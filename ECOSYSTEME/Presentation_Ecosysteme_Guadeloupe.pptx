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 annuel (EUR)</c:v>
                </c:pt>
              </c:strCache>
            </c:strRef>
          </c:tx>
          <c:spPr>
            <a:solidFill>
              <a:srgbClr val="D4A017"/>
            </a:solidFill>
            <a:effectLst/>
          </c:spPr>
          <c:invertIfNegative val="0"/>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An 1</c:v>
                  </c:pt>
                  <c:pt idx="1">
                    <c:v>An 2</c:v>
                  </c:pt>
                  <c:pt idx="2">
                    <c:v>An 3</c:v>
                  </c:pt>
                  <c:pt idx="3">
                    <c:v>An 4</c:v>
                  </c:pt>
                  <c:pt idx="4">
                    <c:v>An 5</c:v>
                  </c:pt>
                </c:lvl>
              </c:multiLvlStrCache>
            </c:multiLvlStrRef>
          </c:cat>
          <c:val>
            <c:numRef>
              <c:f>Sheet1!$B$2:$B$6</c:f>
              <c:numCache>
                <c:formatCode>General</c:formatCode>
                <c:ptCount val="5"/>
                <c:pt idx="0">
                  <c:v>22000</c:v>
                </c:pt>
                <c:pt idx="1">
                  <c:v>75000</c:v>
                </c:pt>
                <c:pt idx="2">
                  <c:v>160000</c:v>
                </c:pt>
                <c:pt idx="3">
                  <c:v>245000</c:v>
                </c:pt>
                <c:pt idx="4">
                  <c:v>318000</c:v>
                </c:pt>
              </c:numCache>
            </c:numRef>
          </c:val>
        </c:ser>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94A3B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a3a5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94A3B8"/>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243352"/>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017"/>
          </a:solidFill>
          <a:ln/>
        </p:spPr>
      </p:sp>
      <p:sp>
        <p:nvSpPr>
          <p:cNvPr id="3" name="Text 1"/>
          <p:cNvSpPr/>
          <p:nvPr/>
        </p:nvSpPr>
        <p:spPr>
          <a:xfrm>
            <a:off x="731520" y="914400"/>
            <a:ext cx="5029200" cy="2011680"/>
          </a:xfrm>
          <a:prstGeom prst="rect">
            <a:avLst/>
          </a:prstGeom>
          <a:noFill/>
          <a:ln/>
        </p:spPr>
        <p:txBody>
          <a:bodyPr wrap="square" lIns="0" tIns="0" rIns="0" bIns="0" rtlCol="0" anchor="ctr"/>
          <a:lstStyle/>
          <a:p>
            <a:pPr indent="0" marL="0">
              <a:lnSpc>
                <a:spcPct val="110000"/>
              </a:lnSpc>
              <a:buNone/>
            </a:pPr>
            <a:r>
              <a:rPr lang="en-US" sz="3800" b="1" dirty="0">
                <a:solidFill>
                  <a:srgbClr val="FFFFFF"/>
                </a:solidFill>
                <a:latin typeface="Georgia" pitchFamily="34" charset="0"/>
                <a:ea typeface="Georgia" pitchFamily="34" charset="-122"/>
                <a:cs typeface="Georgia" pitchFamily="34" charset="-120"/>
              </a:rPr>
              <a:t>ECOSYSTEME WEB</a:t>
            </a:r>
            <a:endParaRPr lang="en-US" sz="3800" dirty="0"/>
          </a:p>
          <a:p>
            <a:pPr indent="0" marL="0">
              <a:lnSpc>
                <a:spcPct val="110000"/>
              </a:lnSpc>
              <a:buNone/>
            </a:pPr>
            <a:r>
              <a:rPr lang="en-US" sz="3800" b="1" dirty="0">
                <a:solidFill>
                  <a:srgbClr val="FFFFFF"/>
                </a:solidFill>
                <a:latin typeface="Georgia" pitchFamily="34" charset="0"/>
                <a:ea typeface="Georgia" pitchFamily="34" charset="-122"/>
                <a:cs typeface="Georgia" pitchFamily="34" charset="-120"/>
              </a:rPr>
              <a:t>GUADELOUPE</a:t>
            </a:r>
            <a:endParaRPr lang="en-US" sz="3800" dirty="0"/>
          </a:p>
        </p:txBody>
      </p:sp>
      <p:sp>
        <p:nvSpPr>
          <p:cNvPr id="4" name="Text 2"/>
          <p:cNvSpPr/>
          <p:nvPr/>
        </p:nvSpPr>
        <p:spPr>
          <a:xfrm>
            <a:off x="731520" y="2926080"/>
            <a:ext cx="4572000" cy="822960"/>
          </a:xfrm>
          <a:prstGeom prst="rect">
            <a:avLst/>
          </a:prstGeom>
          <a:noFill/>
          <a:ln/>
        </p:spPr>
        <p:txBody>
          <a:bodyPr wrap="square" lIns="0" tIns="0" rIns="0" bIns="0" rtlCol="0" anchor="ctr"/>
          <a:lstStyle/>
          <a:p>
            <a:pPr indent="0" marL="0">
              <a:lnSpc>
                <a:spcPct val="130000"/>
              </a:lnSpc>
              <a:buNone/>
            </a:pPr>
            <a:r>
              <a:rPr lang="en-US" sz="1600" dirty="0">
                <a:solidFill>
                  <a:srgbClr val="94A3B8"/>
                </a:solidFill>
                <a:latin typeface="Calibri" pitchFamily="34" charset="0"/>
                <a:ea typeface="Calibri" pitchFamily="34" charset="-122"/>
                <a:cs typeface="Calibri" pitchFamily="34" charset="-120"/>
              </a:rPr>
              <a:t>3 services digitaux au service de</a:t>
            </a:r>
            <a:endParaRPr lang="en-US" sz="1600" dirty="0"/>
          </a:p>
          <a:p>
            <a:pPr indent="0" marL="0">
              <a:lnSpc>
                <a:spcPct val="130000"/>
              </a:lnSpc>
              <a:buNone/>
            </a:pPr>
            <a:r>
              <a:rPr lang="en-US" sz="1600" dirty="0">
                <a:solidFill>
                  <a:srgbClr val="94A3B8"/>
                </a:solidFill>
                <a:latin typeface="Calibri" pitchFamily="34" charset="0"/>
                <a:ea typeface="Calibri" pitchFamily="34" charset="-122"/>
                <a:cs typeface="Calibri" pitchFamily="34" charset="-120"/>
              </a:rPr>
              <a:t>l'immobilier et du BTP aux Antilles</a:t>
            </a:r>
            <a:endParaRPr lang="en-US" sz="1600" dirty="0"/>
          </a:p>
        </p:txBody>
      </p:sp>
      <p:sp>
        <p:nvSpPr>
          <p:cNvPr id="5" name="Text 3"/>
          <p:cNvSpPr/>
          <p:nvPr/>
        </p:nvSpPr>
        <p:spPr>
          <a:xfrm>
            <a:off x="731520" y="3840480"/>
            <a:ext cx="5486400" cy="365760"/>
          </a:xfrm>
          <a:prstGeom prst="rect">
            <a:avLst/>
          </a:prstGeom>
          <a:noFill/>
          <a:ln/>
        </p:spPr>
        <p:txBody>
          <a:bodyPr wrap="square" lIns="0" tIns="0" rIns="0" bIns="0" rtlCol="0" anchor="ctr"/>
          <a:lstStyle/>
          <a:p>
            <a:pPr indent="0" marL="0">
              <a:buNone/>
            </a:pPr>
            <a:r>
              <a:rPr lang="en-US" sz="1400" b="1" dirty="0">
                <a:solidFill>
                  <a:srgbClr val="D4A017"/>
                </a:solidFill>
              </a:rPr>
              <a:t>KCI</a:t>
            </a:r>
            <a:pPr indent="0" marL="0">
              <a:buNone/>
            </a:pPr>
            <a:r>
              <a:rPr lang="en-US" sz="1400" dirty="0">
                <a:solidFill>
                  <a:srgbClr val="64748B"/>
                </a:solidFill>
              </a:rPr>
              <a:t>  |  </a:t>
            </a:r>
            <a:pPr indent="0" marL="0">
              <a:buNone/>
            </a:pPr>
            <a:r>
              <a:rPr lang="en-US" sz="1400" b="1" dirty="0">
                <a:solidFill>
                  <a:srgbClr val="3B82F6"/>
                </a:solidFill>
              </a:rPr>
              <a:t>ImmoServices971</a:t>
            </a:r>
            <a:pPr indent="0" marL="0">
              <a:buNone/>
            </a:pPr>
            <a:r>
              <a:rPr lang="en-US" sz="1400" dirty="0">
                <a:solidFill>
                  <a:srgbClr val="64748B"/>
                </a:solidFill>
              </a:rPr>
              <a:t>  |  </a:t>
            </a:r>
            <a:pPr indent="0" marL="0">
              <a:buNone/>
            </a:pPr>
            <a:r>
              <a:rPr lang="en-US" sz="1400" b="1" dirty="0">
                <a:solidFill>
                  <a:srgbClr val="059669"/>
                </a:solidFill>
              </a:rPr>
              <a:t>Topo3DGuadeloupe</a:t>
            </a:r>
            <a:endParaRPr lang="en-US" sz="1400" dirty="0"/>
          </a:p>
        </p:txBody>
      </p:sp>
      <p:sp>
        <p:nvSpPr>
          <p:cNvPr id="6" name="Shape 4"/>
          <p:cNvSpPr/>
          <p:nvPr/>
        </p:nvSpPr>
        <p:spPr>
          <a:xfrm>
            <a:off x="6217920" y="1097280"/>
            <a:ext cx="2560320" cy="2743200"/>
          </a:xfrm>
          <a:prstGeom prst="rect">
            <a:avLst/>
          </a:prstGeom>
          <a:solidFill>
            <a:srgbClr val="243352"/>
          </a:solidFill>
          <a:ln w="12700">
            <a:solidFill>
              <a:srgbClr val="D4A017"/>
            </a:solidFill>
            <a:prstDash val="solid"/>
          </a:ln>
        </p:spPr>
      </p:sp>
      <p:sp>
        <p:nvSpPr>
          <p:cNvPr id="7" name="Text 5"/>
          <p:cNvSpPr/>
          <p:nvPr/>
        </p:nvSpPr>
        <p:spPr>
          <a:xfrm>
            <a:off x="6400800" y="1371600"/>
            <a:ext cx="21945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Dereck Rauzduel</a:t>
            </a:r>
            <a:endParaRPr lang="en-US" sz="1400" dirty="0"/>
          </a:p>
        </p:txBody>
      </p:sp>
      <p:sp>
        <p:nvSpPr>
          <p:cNvPr id="8" name="Text 6"/>
          <p:cNvSpPr/>
          <p:nvPr/>
        </p:nvSpPr>
        <p:spPr>
          <a:xfrm>
            <a:off x="6400800" y="1737360"/>
            <a:ext cx="2194560" cy="274320"/>
          </a:xfrm>
          <a:prstGeom prst="rect">
            <a:avLst/>
          </a:prstGeom>
          <a:noFill/>
          <a:ln/>
        </p:spPr>
        <p:txBody>
          <a:bodyPr wrap="square" lIns="0" tIns="0" rIns="0" bIns="0" rtlCol="0" anchor="ctr"/>
          <a:lstStyle/>
          <a:p>
            <a:pPr algn="ctr" indent="0" marL="0">
              <a:buNone/>
            </a:pPr>
            <a:r>
              <a:rPr lang="en-US" sz="1100" dirty="0">
                <a:solidFill>
                  <a:srgbClr val="D4A017"/>
                </a:solidFill>
                <a:latin typeface="Calibri" pitchFamily="34" charset="0"/>
                <a:ea typeface="Calibri" pitchFamily="34" charset="-122"/>
                <a:cs typeface="Calibri" pitchFamily="34" charset="-120"/>
              </a:rPr>
              <a:t>Architecte EPFL</a:t>
            </a:r>
            <a:endParaRPr lang="en-US" sz="1100" dirty="0"/>
          </a:p>
        </p:txBody>
      </p:sp>
      <p:sp>
        <p:nvSpPr>
          <p:cNvPr id="9" name="Shape 7"/>
          <p:cNvSpPr/>
          <p:nvPr/>
        </p:nvSpPr>
        <p:spPr>
          <a:xfrm>
            <a:off x="6766560" y="2103120"/>
            <a:ext cx="1463040" cy="0"/>
          </a:xfrm>
          <a:prstGeom prst="line">
            <a:avLst/>
          </a:prstGeom>
          <a:noFill/>
          <a:ln w="6350">
            <a:solidFill>
              <a:srgbClr val="D4A017"/>
            </a:solidFill>
            <a:prstDash val="solid"/>
          </a:ln>
        </p:spPr>
      </p:sp>
      <p:sp>
        <p:nvSpPr>
          <p:cNvPr id="10" name="Text 8"/>
          <p:cNvSpPr/>
          <p:nvPr/>
        </p:nvSpPr>
        <p:spPr>
          <a:xfrm>
            <a:off x="6400800" y="2286000"/>
            <a:ext cx="2194560" cy="54864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Ne aux Abymes</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Guadeloupe</a:t>
            </a:r>
            <a:endParaRPr lang="en-US" sz="1000" dirty="0"/>
          </a:p>
        </p:txBody>
      </p:sp>
      <p:sp>
        <p:nvSpPr>
          <p:cNvPr id="11" name="Text 9"/>
          <p:cNvSpPr/>
          <p:nvPr/>
        </p:nvSpPr>
        <p:spPr>
          <a:xfrm>
            <a:off x="6400800" y="3017520"/>
            <a:ext cx="219456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Mars 2026</a:t>
            </a:r>
            <a:endParaRPr lang="en-US" sz="1000" dirty="0"/>
          </a:p>
        </p:txBody>
      </p:sp>
      <p:sp>
        <p:nvSpPr>
          <p:cNvPr id="12" name="Shape 10"/>
          <p:cNvSpPr/>
          <p:nvPr/>
        </p:nvSpPr>
        <p:spPr>
          <a:xfrm>
            <a:off x="0" y="5088636"/>
            <a:ext cx="9144000" cy="54864"/>
          </a:xfrm>
          <a:prstGeom prst="rect">
            <a:avLst/>
          </a:prstGeom>
          <a:solidFill>
            <a:srgbClr val="D4A017"/>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indent="0" marL="0">
              <a:buNone/>
            </a:pPr>
            <a:r>
              <a:rPr lang="en-US" sz="2600" b="1" dirty="0">
                <a:solidFill>
                  <a:srgbClr val="1A2744"/>
                </a:solidFill>
                <a:latin typeface="Georgia" pitchFamily="34" charset="0"/>
                <a:ea typeface="Georgia" pitchFamily="34" charset="-122"/>
                <a:cs typeface="Georgia" pitchFamily="34" charset="-120"/>
              </a:rPr>
              <a:t>Qui suis-je et pourquoi ce projet ?</a:t>
            </a:r>
            <a:endParaRPr lang="en-US" sz="2600" dirty="0"/>
          </a:p>
        </p:txBody>
      </p:sp>
      <p:sp>
        <p:nvSpPr>
          <p:cNvPr id="3" name="Shape 1"/>
          <p:cNvSpPr/>
          <p:nvPr/>
        </p:nvSpPr>
        <p:spPr>
          <a:xfrm>
            <a:off x="548640" y="868680"/>
            <a:ext cx="1371600" cy="36576"/>
          </a:xfrm>
          <a:prstGeom prst="rect">
            <a:avLst/>
          </a:prstGeom>
          <a:solidFill>
            <a:srgbClr val="D4A017"/>
          </a:solidFill>
          <a:ln/>
        </p:spPr>
      </p:sp>
      <p:sp>
        <p:nvSpPr>
          <p:cNvPr id="4" name="Text 2"/>
          <p:cNvSpPr/>
          <p:nvPr/>
        </p:nvSpPr>
        <p:spPr>
          <a:xfrm>
            <a:off x="548640" y="1188720"/>
            <a:ext cx="4572000" cy="1371600"/>
          </a:xfrm>
          <a:prstGeom prst="rect">
            <a:avLst/>
          </a:prstGeom>
          <a:noFill/>
          <a:ln/>
        </p:spPr>
        <p:txBody>
          <a:bodyPr wrap="square" lIns="0" tIns="0" rIns="0" bIns="0" rtlCol="0" anchor="ctr"/>
          <a:lstStyle/>
          <a:p>
            <a:pPr algn="l" indent="0" marL="0">
              <a:buNone/>
            </a:pPr>
            <a:r>
              <a:rPr lang="en-US" sz="1200" dirty="0">
                <a:solidFill>
                  <a:srgbClr val="334155"/>
                </a:solidFill>
                <a:latin typeface="Calibri" pitchFamily="34" charset="0"/>
                <a:ea typeface="Calibri" pitchFamily="34" charset="-122"/>
                <a:cs typeface="Calibri" pitchFamily="34" charset="-120"/>
              </a:rPr>
              <a:t>Architecte diplome de l'Ecole Polytechnique Federale de Lausanne (EPFL), ne aux Abymes en Guadeloupe. Apres mes etudes en Suisse, j'ai decide de mettre mon expertise au service de la Guadeloupe en creant un ecosysteme de services digitaux dedies a l'immobilier et la construction.</a:t>
            </a:r>
            <a:endParaRPr lang="en-US" sz="1200" dirty="0"/>
          </a:p>
        </p:txBody>
      </p:sp>
      <p:sp>
        <p:nvSpPr>
          <p:cNvPr id="5" name="Shape 3"/>
          <p:cNvSpPr/>
          <p:nvPr/>
        </p:nvSpPr>
        <p:spPr>
          <a:xfrm>
            <a:off x="5486400" y="1097280"/>
            <a:ext cx="3291840" cy="777240"/>
          </a:xfrm>
          <a:prstGeom prst="rect">
            <a:avLst/>
          </a:prstGeom>
          <a:solidFill>
            <a:srgbClr val="FFFFFF"/>
          </a:solidFill>
          <a:ln/>
          <a:effectLst>
            <a:outerShdw sx="100000" sy="100000" kx="0" ky="0" algn="bl" rotWithShape="0" blurRad="101600" dist="38100" dir="8100000">
              <a:srgbClr val="000000">
                <a:alpha val="20000"/>
              </a:srgbClr>
            </a:outerShdw>
          </a:effectLst>
        </p:spPr>
      </p:sp>
      <p:sp>
        <p:nvSpPr>
          <p:cNvPr id="6" name="Shape 4"/>
          <p:cNvSpPr/>
          <p:nvPr/>
        </p:nvSpPr>
        <p:spPr>
          <a:xfrm>
            <a:off x="5486400" y="1097280"/>
            <a:ext cx="54864" cy="777240"/>
          </a:xfrm>
          <a:prstGeom prst="rect">
            <a:avLst/>
          </a:prstGeom>
          <a:solidFill>
            <a:srgbClr val="D4A017"/>
          </a:solidFill>
          <a:ln/>
        </p:spPr>
      </p:sp>
      <p:sp>
        <p:nvSpPr>
          <p:cNvPr id="7" name="Text 5"/>
          <p:cNvSpPr/>
          <p:nvPr/>
        </p:nvSpPr>
        <p:spPr>
          <a:xfrm>
            <a:off x="5669280" y="1143000"/>
            <a:ext cx="457200" cy="320040"/>
          </a:xfrm>
          <a:prstGeom prst="rect">
            <a:avLst/>
          </a:prstGeom>
          <a:noFill/>
          <a:ln/>
        </p:spPr>
        <p:txBody>
          <a:bodyPr wrap="square" lIns="0" tIns="0" rIns="0" bIns="0" rtlCol="0" anchor="ctr"/>
          <a:lstStyle/>
          <a:p>
            <a:pPr indent="0" marL="0">
              <a:buNone/>
            </a:pPr>
            <a:r>
              <a:rPr lang="en-US" sz="1800" b="1" dirty="0">
                <a:solidFill>
                  <a:srgbClr val="D4A017"/>
                </a:solidFill>
                <a:latin typeface="Georgia" pitchFamily="34" charset="0"/>
                <a:ea typeface="Georgia" pitchFamily="34" charset="-122"/>
                <a:cs typeface="Georgia" pitchFamily="34" charset="-120"/>
              </a:rPr>
              <a:t>01</a:t>
            </a:r>
            <a:endParaRPr lang="en-US" sz="1800" dirty="0"/>
          </a:p>
        </p:txBody>
      </p:sp>
      <p:sp>
        <p:nvSpPr>
          <p:cNvPr id="8" name="Text 6"/>
          <p:cNvSpPr/>
          <p:nvPr/>
        </p:nvSpPr>
        <p:spPr>
          <a:xfrm>
            <a:off x="6217920" y="1143000"/>
            <a:ext cx="2377440" cy="320040"/>
          </a:xfrm>
          <a:prstGeom prst="rect">
            <a:avLst/>
          </a:prstGeom>
          <a:noFill/>
          <a:ln/>
        </p:spPr>
        <p:txBody>
          <a:bodyPr wrap="square" lIns="0" tIns="0" rIns="0" bIns="0" rtlCol="0" anchor="ctr"/>
          <a:lstStyle/>
          <a:p>
            <a:pPr indent="0" marL="0">
              <a:buNone/>
            </a:pPr>
            <a:r>
              <a:rPr lang="en-US" sz="1100" b="1" dirty="0">
                <a:solidFill>
                  <a:srgbClr val="1A2744"/>
                </a:solidFill>
                <a:latin typeface="Calibri" pitchFamily="34" charset="0"/>
                <a:ea typeface="Calibri" pitchFamily="34" charset="-122"/>
                <a:cs typeface="Calibri" pitchFamily="34" charset="-120"/>
              </a:rPr>
              <a:t>Marche sous-digitalise</a:t>
            </a:r>
            <a:endParaRPr lang="en-US" sz="1100" dirty="0"/>
          </a:p>
        </p:txBody>
      </p:sp>
      <p:sp>
        <p:nvSpPr>
          <p:cNvPr id="9" name="Text 7"/>
          <p:cNvSpPr/>
          <p:nvPr/>
        </p:nvSpPr>
        <p:spPr>
          <a:xfrm>
            <a:off x="6217920" y="1463040"/>
            <a:ext cx="2377440" cy="32004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Pas d'annuaire specialise BTP/Immo en Guadeloupe</a:t>
            </a:r>
            <a:endParaRPr lang="en-US" sz="900" dirty="0"/>
          </a:p>
        </p:txBody>
      </p:sp>
      <p:sp>
        <p:nvSpPr>
          <p:cNvPr id="10" name="Shape 8"/>
          <p:cNvSpPr/>
          <p:nvPr/>
        </p:nvSpPr>
        <p:spPr>
          <a:xfrm>
            <a:off x="5486400" y="2011680"/>
            <a:ext cx="3291840" cy="777240"/>
          </a:xfrm>
          <a:prstGeom prst="rect">
            <a:avLst/>
          </a:prstGeom>
          <a:solidFill>
            <a:srgbClr val="FFFFFF"/>
          </a:solidFill>
          <a:ln/>
          <a:effectLst>
            <a:outerShdw sx="100000" sy="100000" kx="0" ky="0" algn="bl" rotWithShape="0" blurRad="101600" dist="38100" dir="8100000">
              <a:srgbClr val="000000">
                <a:alpha val="20000"/>
              </a:srgbClr>
            </a:outerShdw>
          </a:effectLst>
        </p:spPr>
      </p:sp>
      <p:sp>
        <p:nvSpPr>
          <p:cNvPr id="11" name="Shape 9"/>
          <p:cNvSpPr/>
          <p:nvPr/>
        </p:nvSpPr>
        <p:spPr>
          <a:xfrm>
            <a:off x="5486400" y="2011680"/>
            <a:ext cx="54864" cy="777240"/>
          </a:xfrm>
          <a:prstGeom prst="rect">
            <a:avLst/>
          </a:prstGeom>
          <a:solidFill>
            <a:srgbClr val="D4A017"/>
          </a:solidFill>
          <a:ln/>
        </p:spPr>
      </p:sp>
      <p:sp>
        <p:nvSpPr>
          <p:cNvPr id="12" name="Text 10"/>
          <p:cNvSpPr/>
          <p:nvPr/>
        </p:nvSpPr>
        <p:spPr>
          <a:xfrm>
            <a:off x="5669280" y="2057400"/>
            <a:ext cx="457200" cy="320040"/>
          </a:xfrm>
          <a:prstGeom prst="rect">
            <a:avLst/>
          </a:prstGeom>
          <a:noFill/>
          <a:ln/>
        </p:spPr>
        <p:txBody>
          <a:bodyPr wrap="square" lIns="0" tIns="0" rIns="0" bIns="0" rtlCol="0" anchor="ctr"/>
          <a:lstStyle/>
          <a:p>
            <a:pPr indent="0" marL="0">
              <a:buNone/>
            </a:pPr>
            <a:r>
              <a:rPr lang="en-US" sz="1800" b="1" dirty="0">
                <a:solidFill>
                  <a:srgbClr val="D4A017"/>
                </a:solidFill>
                <a:latin typeface="Georgia" pitchFamily="34" charset="0"/>
                <a:ea typeface="Georgia" pitchFamily="34" charset="-122"/>
                <a:cs typeface="Georgia" pitchFamily="34" charset="-120"/>
              </a:rPr>
              <a:t>02</a:t>
            </a:r>
            <a:endParaRPr lang="en-US" sz="1800" dirty="0"/>
          </a:p>
        </p:txBody>
      </p:sp>
      <p:sp>
        <p:nvSpPr>
          <p:cNvPr id="13" name="Text 11"/>
          <p:cNvSpPr/>
          <p:nvPr/>
        </p:nvSpPr>
        <p:spPr>
          <a:xfrm>
            <a:off x="6217920" y="2057400"/>
            <a:ext cx="2377440" cy="320040"/>
          </a:xfrm>
          <a:prstGeom prst="rect">
            <a:avLst/>
          </a:prstGeom>
          <a:noFill/>
          <a:ln/>
        </p:spPr>
        <p:txBody>
          <a:bodyPr wrap="square" lIns="0" tIns="0" rIns="0" bIns="0" rtlCol="0" anchor="ctr"/>
          <a:lstStyle/>
          <a:p>
            <a:pPr indent="0" marL="0">
              <a:buNone/>
            </a:pPr>
            <a:r>
              <a:rPr lang="en-US" sz="1100" b="1" dirty="0">
                <a:solidFill>
                  <a:srgbClr val="1A2744"/>
                </a:solidFill>
                <a:latin typeface="Calibri" pitchFamily="34" charset="0"/>
                <a:ea typeface="Calibri" pitchFamily="34" charset="-122"/>
                <a:cs typeface="Calibri" pitchFamily="34" charset="-120"/>
              </a:rPr>
              <a:t>Diplome EPFL unique</a:t>
            </a:r>
            <a:endParaRPr lang="en-US" sz="1100" dirty="0"/>
          </a:p>
        </p:txBody>
      </p:sp>
      <p:sp>
        <p:nvSpPr>
          <p:cNvPr id="14" name="Text 12"/>
          <p:cNvSpPr/>
          <p:nvPr/>
        </p:nvSpPr>
        <p:spPr>
          <a:xfrm>
            <a:off x="6217920" y="2377440"/>
            <a:ext cx="2377440" cy="32004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Credibilite rare et difficile a reproduire dans les DOM</a:t>
            </a:r>
            <a:endParaRPr lang="en-US" sz="900" dirty="0"/>
          </a:p>
        </p:txBody>
      </p:sp>
      <p:sp>
        <p:nvSpPr>
          <p:cNvPr id="15" name="Shape 13"/>
          <p:cNvSpPr/>
          <p:nvPr/>
        </p:nvSpPr>
        <p:spPr>
          <a:xfrm>
            <a:off x="5486400" y="2926080"/>
            <a:ext cx="3291840" cy="777240"/>
          </a:xfrm>
          <a:prstGeom prst="rect">
            <a:avLst/>
          </a:prstGeom>
          <a:solidFill>
            <a:srgbClr val="FFFFFF"/>
          </a:solidFill>
          <a:ln/>
          <a:effectLst>
            <a:outerShdw sx="100000" sy="100000" kx="0" ky="0" algn="bl" rotWithShape="0" blurRad="101600" dist="38100" dir="8100000">
              <a:srgbClr val="000000">
                <a:alpha val="20000"/>
              </a:srgbClr>
            </a:outerShdw>
          </a:effectLst>
        </p:spPr>
      </p:sp>
      <p:sp>
        <p:nvSpPr>
          <p:cNvPr id="16" name="Shape 14"/>
          <p:cNvSpPr/>
          <p:nvPr/>
        </p:nvSpPr>
        <p:spPr>
          <a:xfrm>
            <a:off x="5486400" y="2926080"/>
            <a:ext cx="54864" cy="777240"/>
          </a:xfrm>
          <a:prstGeom prst="rect">
            <a:avLst/>
          </a:prstGeom>
          <a:solidFill>
            <a:srgbClr val="D4A017"/>
          </a:solidFill>
          <a:ln/>
        </p:spPr>
      </p:sp>
      <p:sp>
        <p:nvSpPr>
          <p:cNvPr id="17" name="Text 15"/>
          <p:cNvSpPr/>
          <p:nvPr/>
        </p:nvSpPr>
        <p:spPr>
          <a:xfrm>
            <a:off x="5669280" y="2971800"/>
            <a:ext cx="457200" cy="320040"/>
          </a:xfrm>
          <a:prstGeom prst="rect">
            <a:avLst/>
          </a:prstGeom>
          <a:noFill/>
          <a:ln/>
        </p:spPr>
        <p:txBody>
          <a:bodyPr wrap="square" lIns="0" tIns="0" rIns="0" bIns="0" rtlCol="0" anchor="ctr"/>
          <a:lstStyle/>
          <a:p>
            <a:pPr indent="0" marL="0">
              <a:buNone/>
            </a:pPr>
            <a:r>
              <a:rPr lang="en-US" sz="1800" b="1" dirty="0">
                <a:solidFill>
                  <a:srgbClr val="D4A017"/>
                </a:solidFill>
                <a:latin typeface="Georgia" pitchFamily="34" charset="0"/>
                <a:ea typeface="Georgia" pitchFamily="34" charset="-122"/>
                <a:cs typeface="Georgia" pitchFamily="34" charset="-120"/>
              </a:rPr>
              <a:t>03</a:t>
            </a:r>
            <a:endParaRPr lang="en-US" sz="1800" dirty="0"/>
          </a:p>
        </p:txBody>
      </p:sp>
      <p:sp>
        <p:nvSpPr>
          <p:cNvPr id="18" name="Text 16"/>
          <p:cNvSpPr/>
          <p:nvPr/>
        </p:nvSpPr>
        <p:spPr>
          <a:xfrm>
            <a:off x="6217920" y="2971800"/>
            <a:ext cx="2377440" cy="320040"/>
          </a:xfrm>
          <a:prstGeom prst="rect">
            <a:avLst/>
          </a:prstGeom>
          <a:noFill/>
          <a:ln/>
        </p:spPr>
        <p:txBody>
          <a:bodyPr wrap="square" lIns="0" tIns="0" rIns="0" bIns="0" rtlCol="0" anchor="ctr"/>
          <a:lstStyle/>
          <a:p>
            <a:pPr indent="0" marL="0">
              <a:buNone/>
            </a:pPr>
            <a:r>
              <a:rPr lang="en-US" sz="1100" b="1" dirty="0">
                <a:solidFill>
                  <a:srgbClr val="1A2744"/>
                </a:solidFill>
                <a:latin typeface="Calibri" pitchFamily="34" charset="0"/>
                <a:ea typeface="Calibri" pitchFamily="34" charset="-122"/>
                <a:cs typeface="Calibri" pitchFamily="34" charset="-120"/>
              </a:rPr>
              <a:t>IA &amp; automatisation</a:t>
            </a:r>
            <a:endParaRPr lang="en-US" sz="1100" dirty="0"/>
          </a:p>
        </p:txBody>
      </p:sp>
      <p:sp>
        <p:nvSpPr>
          <p:cNvPr id="19" name="Text 17"/>
          <p:cNvSpPr/>
          <p:nvPr/>
        </p:nvSpPr>
        <p:spPr>
          <a:xfrm>
            <a:off x="6217920" y="3291840"/>
            <a:ext cx="2377440" cy="32004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80% du travail automatise grace a l'intelligence artificielle</a:t>
            </a:r>
            <a:endParaRPr lang="en-US" sz="900" dirty="0"/>
          </a:p>
        </p:txBody>
      </p:sp>
      <p:sp>
        <p:nvSpPr>
          <p:cNvPr id="20" name="Shape 18"/>
          <p:cNvSpPr/>
          <p:nvPr/>
        </p:nvSpPr>
        <p:spPr>
          <a:xfrm>
            <a:off x="5486400" y="3840480"/>
            <a:ext cx="3291840" cy="777240"/>
          </a:xfrm>
          <a:prstGeom prst="rect">
            <a:avLst/>
          </a:prstGeom>
          <a:solidFill>
            <a:srgbClr val="FFFFFF"/>
          </a:solidFill>
          <a:ln/>
          <a:effectLst>
            <a:outerShdw sx="100000" sy="100000" kx="0" ky="0" algn="bl" rotWithShape="0" blurRad="101600" dist="38100" dir="8100000">
              <a:srgbClr val="000000">
                <a:alpha val="20000"/>
              </a:srgbClr>
            </a:outerShdw>
          </a:effectLst>
        </p:spPr>
      </p:sp>
      <p:sp>
        <p:nvSpPr>
          <p:cNvPr id="21" name="Shape 19"/>
          <p:cNvSpPr/>
          <p:nvPr/>
        </p:nvSpPr>
        <p:spPr>
          <a:xfrm>
            <a:off x="5486400" y="3840480"/>
            <a:ext cx="54864" cy="777240"/>
          </a:xfrm>
          <a:prstGeom prst="rect">
            <a:avLst/>
          </a:prstGeom>
          <a:solidFill>
            <a:srgbClr val="D4A017"/>
          </a:solidFill>
          <a:ln/>
        </p:spPr>
      </p:sp>
      <p:sp>
        <p:nvSpPr>
          <p:cNvPr id="22" name="Text 20"/>
          <p:cNvSpPr/>
          <p:nvPr/>
        </p:nvSpPr>
        <p:spPr>
          <a:xfrm>
            <a:off x="5669280" y="3886200"/>
            <a:ext cx="457200" cy="320040"/>
          </a:xfrm>
          <a:prstGeom prst="rect">
            <a:avLst/>
          </a:prstGeom>
          <a:noFill/>
          <a:ln/>
        </p:spPr>
        <p:txBody>
          <a:bodyPr wrap="square" lIns="0" tIns="0" rIns="0" bIns="0" rtlCol="0" anchor="ctr"/>
          <a:lstStyle/>
          <a:p>
            <a:pPr indent="0" marL="0">
              <a:buNone/>
            </a:pPr>
            <a:r>
              <a:rPr lang="en-US" sz="1800" b="1" dirty="0">
                <a:solidFill>
                  <a:srgbClr val="D4A017"/>
                </a:solidFill>
                <a:latin typeface="Georgia" pitchFamily="34" charset="0"/>
                <a:ea typeface="Georgia" pitchFamily="34" charset="-122"/>
                <a:cs typeface="Georgia" pitchFamily="34" charset="-120"/>
              </a:rPr>
              <a:t>04</a:t>
            </a:r>
            <a:endParaRPr lang="en-US" sz="1800" dirty="0"/>
          </a:p>
        </p:txBody>
      </p:sp>
      <p:sp>
        <p:nvSpPr>
          <p:cNvPr id="23" name="Text 21"/>
          <p:cNvSpPr/>
          <p:nvPr/>
        </p:nvSpPr>
        <p:spPr>
          <a:xfrm>
            <a:off x="6217920" y="3886200"/>
            <a:ext cx="2377440" cy="320040"/>
          </a:xfrm>
          <a:prstGeom prst="rect">
            <a:avLst/>
          </a:prstGeom>
          <a:noFill/>
          <a:ln/>
        </p:spPr>
        <p:txBody>
          <a:bodyPr wrap="square" lIns="0" tIns="0" rIns="0" bIns="0" rtlCol="0" anchor="ctr"/>
          <a:lstStyle/>
          <a:p>
            <a:pPr indent="0" marL="0">
              <a:buNone/>
            </a:pPr>
            <a:r>
              <a:rPr lang="en-US" sz="1100" b="1" dirty="0">
                <a:solidFill>
                  <a:srgbClr val="1A2744"/>
                </a:solidFill>
                <a:latin typeface="Calibri" pitchFamily="34" charset="0"/>
                <a:ea typeface="Calibri" pitchFamily="34" charset="-122"/>
                <a:cs typeface="Calibri" pitchFamily="34" charset="-120"/>
              </a:rPr>
              <a:t>Fiscalite DOM avantageuse</a:t>
            </a:r>
            <a:endParaRPr lang="en-US" sz="1100" dirty="0"/>
          </a:p>
        </p:txBody>
      </p:sp>
      <p:sp>
        <p:nvSpPr>
          <p:cNvPr id="24" name="Text 22"/>
          <p:cNvSpPr/>
          <p:nvPr/>
        </p:nvSpPr>
        <p:spPr>
          <a:xfrm>
            <a:off x="6217920" y="4206240"/>
            <a:ext cx="2377440" cy="32004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50-80% d'abattement IS + TVA 8.5% au lieu de 20%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2744"/>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Mes 3 services — simples a comprendre</a:t>
            </a:r>
            <a:endParaRPr lang="en-US" sz="2400" dirty="0"/>
          </a:p>
        </p:txBody>
      </p:sp>
      <p:sp>
        <p:nvSpPr>
          <p:cNvPr id="3" name="Shape 1"/>
          <p:cNvSpPr/>
          <p:nvPr/>
        </p:nvSpPr>
        <p:spPr>
          <a:xfrm>
            <a:off x="548640" y="1005840"/>
            <a:ext cx="2651760" cy="3474720"/>
          </a:xfrm>
          <a:prstGeom prst="rect">
            <a:avLst/>
          </a:prstGeom>
          <a:solidFill>
            <a:srgbClr val="243352"/>
          </a:solidFill>
          <a:ln/>
          <a:effectLst>
            <a:outerShdw sx="100000" sy="100000" kx="0" ky="0" algn="bl" rotWithShape="0" blurRad="101600" dist="38100" dir="8100000">
              <a:srgbClr val="000000">
                <a:alpha val="20000"/>
              </a:srgbClr>
            </a:outerShdw>
          </a:effectLst>
        </p:spPr>
      </p:sp>
      <p:sp>
        <p:nvSpPr>
          <p:cNvPr id="4" name="Shape 2"/>
          <p:cNvSpPr/>
          <p:nvPr/>
        </p:nvSpPr>
        <p:spPr>
          <a:xfrm>
            <a:off x="548640" y="1005840"/>
            <a:ext cx="2651760" cy="54864"/>
          </a:xfrm>
          <a:prstGeom prst="rect">
            <a:avLst/>
          </a:prstGeom>
          <a:solidFill>
            <a:srgbClr val="D4A017"/>
          </a:solidFill>
          <a:ln/>
        </p:spPr>
      </p:sp>
      <p:sp>
        <p:nvSpPr>
          <p:cNvPr id="5" name="Text 3"/>
          <p:cNvSpPr/>
          <p:nvPr/>
        </p:nvSpPr>
        <p:spPr>
          <a:xfrm>
            <a:off x="822960" y="1234440"/>
            <a:ext cx="2103120" cy="457200"/>
          </a:xfrm>
          <a:prstGeom prst="rect">
            <a:avLst/>
          </a:prstGeom>
          <a:noFill/>
          <a:ln/>
        </p:spPr>
        <p:txBody>
          <a:bodyPr wrap="square" lIns="0" tIns="0" rIns="0" bIns="0" rtlCol="0" anchor="ctr"/>
          <a:lstStyle/>
          <a:p>
            <a:pPr indent="0" marL="0">
              <a:buNone/>
            </a:pPr>
            <a:r>
              <a:rPr lang="en-US" sz="2000" b="1" dirty="0">
                <a:solidFill>
                  <a:srgbClr val="D4A017"/>
                </a:solidFill>
                <a:latin typeface="Georgia" pitchFamily="34" charset="0"/>
                <a:ea typeface="Georgia" pitchFamily="34" charset="-122"/>
                <a:cs typeface="Georgia" pitchFamily="34" charset="-120"/>
              </a:rPr>
              <a:t>KCI</a:t>
            </a:r>
            <a:endParaRPr lang="en-US" sz="2000" dirty="0"/>
          </a:p>
        </p:txBody>
      </p:sp>
      <p:sp>
        <p:nvSpPr>
          <p:cNvPr id="6" name="Text 4"/>
          <p:cNvSpPr/>
          <p:nvPr/>
        </p:nvSpPr>
        <p:spPr>
          <a:xfrm>
            <a:off x="822960" y="1645920"/>
            <a:ext cx="210312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Karukera Conseil Immobilier</a:t>
            </a:r>
            <a:endParaRPr lang="en-US" sz="1000" dirty="0"/>
          </a:p>
        </p:txBody>
      </p:sp>
      <p:sp>
        <p:nvSpPr>
          <p:cNvPr id="7" name="Text 5"/>
          <p:cNvSpPr/>
          <p:nvPr/>
        </p:nvSpPr>
        <p:spPr>
          <a:xfrm>
            <a:off x="822960" y="2103120"/>
            <a:ext cx="2103120" cy="16459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Pre-etudes de faisabilite pour investisseurs. Un client trouve un terrain, je reponds: 'ca vaut le coup ou pas?' avec un rapport professionnel.</a:t>
            </a:r>
            <a:endParaRPr lang="en-US" sz="1100" dirty="0"/>
          </a:p>
        </p:txBody>
      </p:sp>
      <p:sp>
        <p:nvSpPr>
          <p:cNvPr id="8" name="Shape 6"/>
          <p:cNvSpPr/>
          <p:nvPr/>
        </p:nvSpPr>
        <p:spPr>
          <a:xfrm>
            <a:off x="822960" y="3931920"/>
            <a:ext cx="2103120" cy="365760"/>
          </a:xfrm>
          <a:prstGeom prst="rect">
            <a:avLst/>
          </a:prstGeom>
          <a:solidFill>
            <a:srgbClr val="D4A017"/>
          </a:solidFill>
          <a:ln/>
        </p:spPr>
      </p:sp>
      <p:sp>
        <p:nvSpPr>
          <p:cNvPr id="9" name="Text 7"/>
          <p:cNvSpPr/>
          <p:nvPr/>
        </p:nvSpPr>
        <p:spPr>
          <a:xfrm>
            <a:off x="822960" y="3931920"/>
            <a:ext cx="210312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49 | 129 | 299 EUR</a:t>
            </a:r>
            <a:endParaRPr lang="en-US" sz="1200" dirty="0"/>
          </a:p>
        </p:txBody>
      </p:sp>
      <p:sp>
        <p:nvSpPr>
          <p:cNvPr id="10" name="Shape 8"/>
          <p:cNvSpPr/>
          <p:nvPr/>
        </p:nvSpPr>
        <p:spPr>
          <a:xfrm>
            <a:off x="3429000" y="1005840"/>
            <a:ext cx="2651760" cy="3474720"/>
          </a:xfrm>
          <a:prstGeom prst="rect">
            <a:avLst/>
          </a:prstGeom>
          <a:solidFill>
            <a:srgbClr val="243352"/>
          </a:solidFill>
          <a:ln/>
          <a:effectLst>
            <a:outerShdw sx="100000" sy="100000" kx="0" ky="0" algn="bl" rotWithShape="0" blurRad="101600" dist="38100" dir="8100000">
              <a:srgbClr val="000000">
                <a:alpha val="20000"/>
              </a:srgbClr>
            </a:outerShdw>
          </a:effectLst>
        </p:spPr>
      </p:sp>
      <p:sp>
        <p:nvSpPr>
          <p:cNvPr id="11" name="Shape 9"/>
          <p:cNvSpPr/>
          <p:nvPr/>
        </p:nvSpPr>
        <p:spPr>
          <a:xfrm>
            <a:off x="3429000" y="1005840"/>
            <a:ext cx="2651760" cy="54864"/>
          </a:xfrm>
          <a:prstGeom prst="rect">
            <a:avLst/>
          </a:prstGeom>
          <a:solidFill>
            <a:srgbClr val="3B82F6"/>
          </a:solidFill>
          <a:ln/>
        </p:spPr>
      </p:sp>
      <p:sp>
        <p:nvSpPr>
          <p:cNvPr id="12" name="Text 10"/>
          <p:cNvSpPr/>
          <p:nvPr/>
        </p:nvSpPr>
        <p:spPr>
          <a:xfrm>
            <a:off x="3703320" y="1234440"/>
            <a:ext cx="2103120" cy="457200"/>
          </a:xfrm>
          <a:prstGeom prst="rect">
            <a:avLst/>
          </a:prstGeom>
          <a:noFill/>
          <a:ln/>
        </p:spPr>
        <p:txBody>
          <a:bodyPr wrap="square" lIns="0" tIns="0" rIns="0" bIns="0" rtlCol="0" anchor="ctr"/>
          <a:lstStyle/>
          <a:p>
            <a:pPr indent="0" marL="0">
              <a:buNone/>
            </a:pPr>
            <a:r>
              <a:rPr lang="en-US" sz="2000" b="1" dirty="0">
                <a:solidFill>
                  <a:srgbClr val="3B82F6"/>
                </a:solidFill>
                <a:latin typeface="Georgia" pitchFamily="34" charset="0"/>
                <a:ea typeface="Georgia" pitchFamily="34" charset="-122"/>
                <a:cs typeface="Georgia" pitchFamily="34" charset="-120"/>
              </a:rPr>
              <a:t>ImmoServices971</a:t>
            </a:r>
            <a:endParaRPr lang="en-US" sz="2000" dirty="0"/>
          </a:p>
        </p:txBody>
      </p:sp>
      <p:sp>
        <p:nvSpPr>
          <p:cNvPr id="13" name="Text 11"/>
          <p:cNvSpPr/>
          <p:nvPr/>
        </p:nvSpPr>
        <p:spPr>
          <a:xfrm>
            <a:off x="3703320" y="1645920"/>
            <a:ext cx="210312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L'annuaire des pros</a:t>
            </a:r>
            <a:endParaRPr lang="en-US" sz="1000" dirty="0"/>
          </a:p>
        </p:txBody>
      </p:sp>
      <p:sp>
        <p:nvSpPr>
          <p:cNvPr id="14" name="Text 12"/>
          <p:cNvSpPr/>
          <p:nvPr/>
        </p:nvSpPr>
        <p:spPr>
          <a:xfrm>
            <a:off x="3703320" y="2103120"/>
            <a:ext cx="2103120" cy="16459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Le site de reference pour trouver un architecte, macon, plombier ou agent immobilier verifie en Guadeloupe. Blog SEO expert.</a:t>
            </a:r>
            <a:endParaRPr lang="en-US" sz="1100" dirty="0"/>
          </a:p>
        </p:txBody>
      </p:sp>
      <p:sp>
        <p:nvSpPr>
          <p:cNvPr id="15" name="Shape 13"/>
          <p:cNvSpPr/>
          <p:nvPr/>
        </p:nvSpPr>
        <p:spPr>
          <a:xfrm>
            <a:off x="3703320" y="3931920"/>
            <a:ext cx="2103120" cy="365760"/>
          </a:xfrm>
          <a:prstGeom prst="rect">
            <a:avLst/>
          </a:prstGeom>
          <a:solidFill>
            <a:srgbClr val="3B82F6"/>
          </a:solidFill>
          <a:ln/>
        </p:spPr>
      </p:sp>
      <p:sp>
        <p:nvSpPr>
          <p:cNvPr id="16" name="Text 14"/>
          <p:cNvSpPr/>
          <p:nvPr/>
        </p:nvSpPr>
        <p:spPr>
          <a:xfrm>
            <a:off x="3703320" y="3931920"/>
            <a:ext cx="210312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39 | 99 EUR/mois</a:t>
            </a:r>
            <a:endParaRPr lang="en-US" sz="1200" dirty="0"/>
          </a:p>
        </p:txBody>
      </p:sp>
      <p:sp>
        <p:nvSpPr>
          <p:cNvPr id="17" name="Shape 15"/>
          <p:cNvSpPr/>
          <p:nvPr/>
        </p:nvSpPr>
        <p:spPr>
          <a:xfrm>
            <a:off x="6309360" y="1005840"/>
            <a:ext cx="2651760" cy="3474720"/>
          </a:xfrm>
          <a:prstGeom prst="rect">
            <a:avLst/>
          </a:prstGeom>
          <a:solidFill>
            <a:srgbClr val="243352"/>
          </a:solidFill>
          <a:ln/>
          <a:effectLst>
            <a:outerShdw sx="100000" sy="100000" kx="0" ky="0" algn="bl" rotWithShape="0" blurRad="101600" dist="38100" dir="8100000">
              <a:srgbClr val="000000">
                <a:alpha val="20000"/>
              </a:srgbClr>
            </a:outerShdw>
          </a:effectLst>
        </p:spPr>
      </p:sp>
      <p:sp>
        <p:nvSpPr>
          <p:cNvPr id="18" name="Shape 16"/>
          <p:cNvSpPr/>
          <p:nvPr/>
        </p:nvSpPr>
        <p:spPr>
          <a:xfrm>
            <a:off x="6309360" y="1005840"/>
            <a:ext cx="2651760" cy="54864"/>
          </a:xfrm>
          <a:prstGeom prst="rect">
            <a:avLst/>
          </a:prstGeom>
          <a:solidFill>
            <a:srgbClr val="059669"/>
          </a:solidFill>
          <a:ln/>
        </p:spPr>
      </p:sp>
      <p:sp>
        <p:nvSpPr>
          <p:cNvPr id="19" name="Text 17"/>
          <p:cNvSpPr/>
          <p:nvPr/>
        </p:nvSpPr>
        <p:spPr>
          <a:xfrm>
            <a:off x="6583680" y="1234440"/>
            <a:ext cx="2103120" cy="457200"/>
          </a:xfrm>
          <a:prstGeom prst="rect">
            <a:avLst/>
          </a:prstGeom>
          <a:noFill/>
          <a:ln/>
        </p:spPr>
        <p:txBody>
          <a:bodyPr wrap="square" lIns="0" tIns="0" rIns="0" bIns="0" rtlCol="0" anchor="ctr"/>
          <a:lstStyle/>
          <a:p>
            <a:pPr indent="0" marL="0">
              <a:buNone/>
            </a:pPr>
            <a:r>
              <a:rPr lang="en-US" sz="2000" b="1" dirty="0">
                <a:solidFill>
                  <a:srgbClr val="059669"/>
                </a:solidFill>
                <a:latin typeface="Georgia" pitchFamily="34" charset="0"/>
                <a:ea typeface="Georgia" pitchFamily="34" charset="-122"/>
                <a:cs typeface="Georgia" pitchFamily="34" charset="-120"/>
              </a:rPr>
              <a:t>Topo3D</a:t>
            </a:r>
            <a:endParaRPr lang="en-US" sz="2000" dirty="0"/>
          </a:p>
        </p:txBody>
      </p:sp>
      <p:sp>
        <p:nvSpPr>
          <p:cNvPr id="20" name="Text 18"/>
          <p:cNvSpPr/>
          <p:nvPr/>
        </p:nvSpPr>
        <p:spPr>
          <a:xfrm>
            <a:off x="6583680" y="1645920"/>
            <a:ext cx="210312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Topographie numerique</a:t>
            </a:r>
            <a:endParaRPr lang="en-US" sz="1000" dirty="0"/>
          </a:p>
        </p:txBody>
      </p:sp>
      <p:sp>
        <p:nvSpPr>
          <p:cNvPr id="21" name="Text 19"/>
          <p:cNvSpPr/>
          <p:nvPr/>
        </p:nvSpPr>
        <p:spPr>
          <a:xfrm>
            <a:off x="6583680" y="2103120"/>
            <a:ext cx="2103120" cy="16459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Fichiers 3D du terrain d'une parcelle generes automatiquement. Un geometre facture 2 000-3 000 EUR. Moi: 79-199 EUR.</a:t>
            </a:r>
            <a:endParaRPr lang="en-US" sz="1100" dirty="0"/>
          </a:p>
        </p:txBody>
      </p:sp>
      <p:sp>
        <p:nvSpPr>
          <p:cNvPr id="22" name="Shape 20"/>
          <p:cNvSpPr/>
          <p:nvPr/>
        </p:nvSpPr>
        <p:spPr>
          <a:xfrm>
            <a:off x="6583680" y="3931920"/>
            <a:ext cx="2103120" cy="365760"/>
          </a:xfrm>
          <a:prstGeom prst="rect">
            <a:avLst/>
          </a:prstGeom>
          <a:solidFill>
            <a:srgbClr val="059669"/>
          </a:solidFill>
          <a:ln/>
        </p:spPr>
      </p:sp>
      <p:sp>
        <p:nvSpPr>
          <p:cNvPr id="23" name="Text 21"/>
          <p:cNvSpPr/>
          <p:nvPr/>
        </p:nvSpPr>
        <p:spPr>
          <a:xfrm>
            <a:off x="6583680" y="3931920"/>
            <a:ext cx="210312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79 | 149 | 199 EUR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indent="0" marL="0">
              <a:buNone/>
            </a:pPr>
            <a:r>
              <a:rPr lang="en-US" sz="2400" b="1" dirty="0">
                <a:solidFill>
                  <a:srgbClr val="1A2744"/>
                </a:solidFill>
                <a:latin typeface="Georgia" pitchFamily="34" charset="0"/>
                <a:ea typeface="Georgia" pitchFamily="34" charset="-122"/>
                <a:cs typeface="Georgia" pitchFamily="34" charset="-120"/>
              </a:rPr>
              <a:t>Les 3 services se renforcent mutuellement</a:t>
            </a:r>
            <a:endParaRPr lang="en-US" sz="2400" dirty="0"/>
          </a:p>
        </p:txBody>
      </p:sp>
      <p:sp>
        <p:nvSpPr>
          <p:cNvPr id="3" name="Shape 1"/>
          <p:cNvSpPr/>
          <p:nvPr/>
        </p:nvSpPr>
        <p:spPr>
          <a:xfrm>
            <a:off x="548640" y="868680"/>
            <a:ext cx="1371600" cy="36576"/>
          </a:xfrm>
          <a:prstGeom prst="rect">
            <a:avLst/>
          </a:prstGeom>
          <a:solidFill>
            <a:srgbClr val="D4A017"/>
          </a:solidFill>
          <a:ln/>
        </p:spPr>
      </p:sp>
      <p:sp>
        <p:nvSpPr>
          <p:cNvPr id="4" name="Shape 2"/>
          <p:cNvSpPr/>
          <p:nvPr/>
        </p:nvSpPr>
        <p:spPr>
          <a:xfrm>
            <a:off x="640080" y="1554480"/>
            <a:ext cx="1463040" cy="1463040"/>
          </a:xfrm>
          <a:prstGeom prst="ellipse">
            <a:avLst/>
          </a:prstGeom>
          <a:solidFill>
            <a:srgbClr val="2563EB">
              <a:alpha val="85000"/>
            </a:srgbClr>
          </a:solidFill>
          <a:ln w="25400">
            <a:solidFill>
              <a:srgbClr val="2563EB"/>
            </a:solidFill>
            <a:prstDash val="solid"/>
          </a:ln>
        </p:spPr>
      </p:sp>
      <p:sp>
        <p:nvSpPr>
          <p:cNvPr id="5" name="Text 3"/>
          <p:cNvSpPr/>
          <p:nvPr/>
        </p:nvSpPr>
        <p:spPr>
          <a:xfrm>
            <a:off x="640080" y="1920240"/>
            <a:ext cx="1463040" cy="731520"/>
          </a:xfrm>
          <a:prstGeom prst="rect">
            <a:avLst/>
          </a:prstGeom>
          <a:noFill/>
          <a:ln/>
        </p:spPr>
        <p:txBody>
          <a:bodyPr wrap="square" lIns="0" tIns="0" rIns="0" bIns="0" rtlCol="0" anchor="ctr"/>
          <a:lstStyle/>
          <a:p>
            <a:pPr algn="ctr" indent="0" marL="0">
              <a:buNone/>
            </a:pPr>
            <a:r>
              <a:rPr lang="en-US" sz="1000" b="1" dirty="0">
                <a:solidFill>
                  <a:srgbClr val="1A2744"/>
                </a:solidFill>
                <a:latin typeface="Calibri" pitchFamily="34" charset="0"/>
                <a:ea typeface="Calibri" pitchFamily="34" charset="-122"/>
                <a:cs typeface="Calibri" pitchFamily="34" charset="-120"/>
              </a:rPr>
              <a:t>Blog SEO</a:t>
            </a:r>
            <a:endParaRPr lang="en-US" sz="1000" dirty="0"/>
          </a:p>
          <a:p>
            <a:pPr algn="ctr" indent="0" marL="0">
              <a:buNone/>
            </a:pPr>
            <a:r>
              <a:rPr lang="en-US" sz="1000" b="1" dirty="0">
                <a:solidFill>
                  <a:srgbClr val="1A2744"/>
                </a:solidFill>
                <a:latin typeface="Calibri" pitchFamily="34" charset="0"/>
                <a:ea typeface="Calibri" pitchFamily="34" charset="-122"/>
                <a:cs typeface="Calibri" pitchFamily="34" charset="-120"/>
              </a:rPr>
              <a:t>ImmoServices971</a:t>
            </a:r>
            <a:endParaRPr lang="en-US" sz="1000" dirty="0"/>
          </a:p>
        </p:txBody>
      </p:sp>
      <p:sp>
        <p:nvSpPr>
          <p:cNvPr id="6" name="Shape 4"/>
          <p:cNvSpPr/>
          <p:nvPr/>
        </p:nvSpPr>
        <p:spPr>
          <a:xfrm>
            <a:off x="3154680" y="1554480"/>
            <a:ext cx="1463040" cy="1463040"/>
          </a:xfrm>
          <a:prstGeom prst="ellipse">
            <a:avLst/>
          </a:prstGeom>
          <a:solidFill>
            <a:srgbClr val="D4A017">
              <a:alpha val="85000"/>
            </a:srgbClr>
          </a:solidFill>
          <a:ln w="25400">
            <a:solidFill>
              <a:srgbClr val="D4A017"/>
            </a:solidFill>
            <a:prstDash val="solid"/>
          </a:ln>
        </p:spPr>
      </p:sp>
      <p:sp>
        <p:nvSpPr>
          <p:cNvPr id="7" name="Text 5"/>
          <p:cNvSpPr/>
          <p:nvPr/>
        </p:nvSpPr>
        <p:spPr>
          <a:xfrm>
            <a:off x="3154680" y="1920240"/>
            <a:ext cx="1463040" cy="731520"/>
          </a:xfrm>
          <a:prstGeom prst="rect">
            <a:avLst/>
          </a:prstGeom>
          <a:noFill/>
          <a:ln/>
        </p:spPr>
        <p:txBody>
          <a:bodyPr wrap="square" lIns="0" tIns="0" rIns="0" bIns="0" rtlCol="0" anchor="ctr"/>
          <a:lstStyle/>
          <a:p>
            <a:pPr algn="ctr" indent="0" marL="0">
              <a:buNone/>
            </a:pPr>
            <a:r>
              <a:rPr lang="en-US" sz="1000" b="1" dirty="0">
                <a:solidFill>
                  <a:srgbClr val="1A2744"/>
                </a:solidFill>
                <a:latin typeface="Calibri" pitchFamily="34" charset="0"/>
                <a:ea typeface="Calibri" pitchFamily="34" charset="-122"/>
                <a:cs typeface="Calibri" pitchFamily="34" charset="-120"/>
              </a:rPr>
              <a:t>KCI</a:t>
            </a:r>
            <a:endParaRPr lang="en-US" sz="1000" dirty="0"/>
          </a:p>
          <a:p>
            <a:pPr algn="ctr" indent="0" marL="0">
              <a:buNone/>
            </a:pPr>
            <a:r>
              <a:rPr lang="en-US" sz="1000" b="1" dirty="0">
                <a:solidFill>
                  <a:srgbClr val="1A2744"/>
                </a:solidFill>
                <a:latin typeface="Calibri" pitchFamily="34" charset="0"/>
                <a:ea typeface="Calibri" pitchFamily="34" charset="-122"/>
                <a:cs typeface="Calibri" pitchFamily="34" charset="-120"/>
              </a:rPr>
              <a:t>Rapports</a:t>
            </a:r>
            <a:endParaRPr lang="en-US" sz="1000" dirty="0"/>
          </a:p>
        </p:txBody>
      </p:sp>
      <p:sp>
        <p:nvSpPr>
          <p:cNvPr id="8" name="Shape 6"/>
          <p:cNvSpPr/>
          <p:nvPr/>
        </p:nvSpPr>
        <p:spPr>
          <a:xfrm>
            <a:off x="5669280" y="1554480"/>
            <a:ext cx="1463040" cy="1463040"/>
          </a:xfrm>
          <a:prstGeom prst="ellipse">
            <a:avLst/>
          </a:prstGeom>
          <a:solidFill>
            <a:srgbClr val="059669">
              <a:alpha val="85000"/>
            </a:srgbClr>
          </a:solidFill>
          <a:ln w="25400">
            <a:solidFill>
              <a:srgbClr val="059669"/>
            </a:solidFill>
            <a:prstDash val="solid"/>
          </a:ln>
        </p:spPr>
      </p:sp>
      <p:sp>
        <p:nvSpPr>
          <p:cNvPr id="9" name="Text 7"/>
          <p:cNvSpPr/>
          <p:nvPr/>
        </p:nvSpPr>
        <p:spPr>
          <a:xfrm>
            <a:off x="5669280" y="1920240"/>
            <a:ext cx="1463040" cy="731520"/>
          </a:xfrm>
          <a:prstGeom prst="rect">
            <a:avLst/>
          </a:prstGeom>
          <a:noFill/>
          <a:ln/>
        </p:spPr>
        <p:txBody>
          <a:bodyPr wrap="square" lIns="0" tIns="0" rIns="0" bIns="0" rtlCol="0" anchor="ctr"/>
          <a:lstStyle/>
          <a:p>
            <a:pPr algn="ctr" indent="0" marL="0">
              <a:buNone/>
            </a:pPr>
            <a:r>
              <a:rPr lang="en-US" sz="1000" b="1" dirty="0">
                <a:solidFill>
                  <a:srgbClr val="1A2744"/>
                </a:solidFill>
                <a:latin typeface="Calibri" pitchFamily="34" charset="0"/>
                <a:ea typeface="Calibri" pitchFamily="34" charset="-122"/>
                <a:cs typeface="Calibri" pitchFamily="34" charset="-120"/>
              </a:rPr>
              <a:t>Topo3D</a:t>
            </a:r>
            <a:endParaRPr lang="en-US" sz="1000" dirty="0"/>
          </a:p>
          <a:p>
            <a:pPr algn="ctr" indent="0" marL="0">
              <a:buNone/>
            </a:pPr>
            <a:r>
              <a:rPr lang="en-US" sz="1000" b="1" dirty="0">
                <a:solidFill>
                  <a:srgbClr val="1A2744"/>
                </a:solidFill>
                <a:latin typeface="Calibri" pitchFamily="34" charset="0"/>
                <a:ea typeface="Calibri" pitchFamily="34" charset="-122"/>
                <a:cs typeface="Calibri" pitchFamily="34" charset="-120"/>
              </a:rPr>
              <a:t>Fichiers 3D</a:t>
            </a:r>
            <a:endParaRPr lang="en-US" sz="1000" dirty="0"/>
          </a:p>
        </p:txBody>
      </p:sp>
      <p:sp>
        <p:nvSpPr>
          <p:cNvPr id="10" name="Text 8"/>
          <p:cNvSpPr/>
          <p:nvPr/>
        </p:nvSpPr>
        <p:spPr>
          <a:xfrm>
            <a:off x="2377440" y="2011680"/>
            <a:ext cx="1097280" cy="54864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Trafic gratuit</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a:t>
            </a:r>
            <a:endParaRPr lang="en-US" sz="900" dirty="0"/>
          </a:p>
        </p:txBody>
      </p:sp>
      <p:sp>
        <p:nvSpPr>
          <p:cNvPr id="11" name="Text 9"/>
          <p:cNvSpPr/>
          <p:nvPr/>
        </p:nvSpPr>
        <p:spPr>
          <a:xfrm>
            <a:off x="4892040" y="2011680"/>
            <a:ext cx="1097280" cy="54864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Upsell</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a:t>
            </a:r>
            <a:endParaRPr lang="en-US" sz="900" dirty="0"/>
          </a:p>
        </p:txBody>
      </p:sp>
      <p:sp>
        <p:nvSpPr>
          <p:cNvPr id="12" name="Shape 10"/>
          <p:cNvSpPr/>
          <p:nvPr/>
        </p:nvSpPr>
        <p:spPr>
          <a:xfrm>
            <a:off x="548640" y="3657600"/>
            <a:ext cx="1965960" cy="1097280"/>
          </a:xfrm>
          <a:prstGeom prst="rect">
            <a:avLst/>
          </a:prstGeom>
          <a:solidFill>
            <a:srgbClr val="FFFFFF"/>
          </a:solidFill>
          <a:ln/>
          <a:effectLst>
            <a:outerShdw sx="100000" sy="100000" kx="0" ky="0" algn="bl" rotWithShape="0" blurRad="101600" dist="38100" dir="8100000">
              <a:srgbClr val="000000">
                <a:alpha val="20000"/>
              </a:srgbClr>
            </a:outerShdw>
          </a:effectLst>
        </p:spPr>
      </p:sp>
      <p:sp>
        <p:nvSpPr>
          <p:cNvPr id="13" name="Shape 11"/>
          <p:cNvSpPr/>
          <p:nvPr/>
        </p:nvSpPr>
        <p:spPr>
          <a:xfrm>
            <a:off x="548640" y="3657600"/>
            <a:ext cx="1965960" cy="36576"/>
          </a:xfrm>
          <a:prstGeom prst="rect">
            <a:avLst/>
          </a:prstGeom>
          <a:solidFill>
            <a:srgbClr val="D4A017"/>
          </a:solidFill>
          <a:ln/>
        </p:spPr>
      </p:sp>
      <p:sp>
        <p:nvSpPr>
          <p:cNvPr id="14" name="Text 12"/>
          <p:cNvSpPr/>
          <p:nvPr/>
        </p:nvSpPr>
        <p:spPr>
          <a:xfrm>
            <a:off x="685800" y="3794760"/>
            <a:ext cx="1691640" cy="822960"/>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Le blog attire du trafic Google gratuitement</a:t>
            </a:r>
            <a:endParaRPr lang="en-US" sz="900" dirty="0"/>
          </a:p>
        </p:txBody>
      </p:sp>
      <p:sp>
        <p:nvSpPr>
          <p:cNvPr id="15" name="Shape 13"/>
          <p:cNvSpPr/>
          <p:nvPr/>
        </p:nvSpPr>
        <p:spPr>
          <a:xfrm>
            <a:off x="2697480" y="3657600"/>
            <a:ext cx="1965960" cy="1097280"/>
          </a:xfrm>
          <a:prstGeom prst="rect">
            <a:avLst/>
          </a:prstGeom>
          <a:solidFill>
            <a:srgbClr val="FFFFFF"/>
          </a:solidFill>
          <a:ln/>
          <a:effectLst>
            <a:outerShdw sx="100000" sy="100000" kx="0" ky="0" algn="bl" rotWithShape="0" blurRad="101600" dist="38100" dir="8100000">
              <a:srgbClr val="000000">
                <a:alpha val="20000"/>
              </a:srgbClr>
            </a:outerShdw>
          </a:effectLst>
        </p:spPr>
      </p:sp>
      <p:sp>
        <p:nvSpPr>
          <p:cNvPr id="16" name="Shape 14"/>
          <p:cNvSpPr/>
          <p:nvPr/>
        </p:nvSpPr>
        <p:spPr>
          <a:xfrm>
            <a:off x="2697480" y="3657600"/>
            <a:ext cx="1965960" cy="36576"/>
          </a:xfrm>
          <a:prstGeom prst="rect">
            <a:avLst/>
          </a:prstGeom>
          <a:solidFill>
            <a:srgbClr val="D4A017"/>
          </a:solidFill>
          <a:ln/>
        </p:spPr>
      </p:sp>
      <p:sp>
        <p:nvSpPr>
          <p:cNvPr id="17" name="Text 15"/>
          <p:cNvSpPr/>
          <p:nvPr/>
        </p:nvSpPr>
        <p:spPr>
          <a:xfrm>
            <a:off x="2834640" y="3794760"/>
            <a:ext cx="1691640" cy="822960"/>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Les visiteurs decouvrent KCI et commandent des pre-etudes</a:t>
            </a:r>
            <a:endParaRPr lang="en-US" sz="900" dirty="0"/>
          </a:p>
        </p:txBody>
      </p:sp>
      <p:sp>
        <p:nvSpPr>
          <p:cNvPr id="18" name="Shape 16"/>
          <p:cNvSpPr/>
          <p:nvPr/>
        </p:nvSpPr>
        <p:spPr>
          <a:xfrm>
            <a:off x="4846320" y="3657600"/>
            <a:ext cx="1965960" cy="1097280"/>
          </a:xfrm>
          <a:prstGeom prst="rect">
            <a:avLst/>
          </a:prstGeom>
          <a:solidFill>
            <a:srgbClr val="FFFFFF"/>
          </a:solidFill>
          <a:ln/>
          <a:effectLst>
            <a:outerShdw sx="100000" sy="100000" kx="0" ky="0" algn="bl" rotWithShape="0" blurRad="101600" dist="38100" dir="8100000">
              <a:srgbClr val="000000">
                <a:alpha val="20000"/>
              </a:srgbClr>
            </a:outerShdw>
          </a:effectLst>
        </p:spPr>
      </p:sp>
      <p:sp>
        <p:nvSpPr>
          <p:cNvPr id="19" name="Shape 17"/>
          <p:cNvSpPr/>
          <p:nvPr/>
        </p:nvSpPr>
        <p:spPr>
          <a:xfrm>
            <a:off x="4846320" y="3657600"/>
            <a:ext cx="1965960" cy="36576"/>
          </a:xfrm>
          <a:prstGeom prst="rect">
            <a:avLst/>
          </a:prstGeom>
          <a:solidFill>
            <a:srgbClr val="D4A017"/>
          </a:solidFill>
          <a:ln/>
        </p:spPr>
      </p:sp>
      <p:sp>
        <p:nvSpPr>
          <p:cNvPr id="20" name="Text 18"/>
          <p:cNvSpPr/>
          <p:nvPr/>
        </p:nvSpPr>
        <p:spPr>
          <a:xfrm>
            <a:off x="4983480" y="3794760"/>
            <a:ext cx="1691640" cy="822960"/>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Les rapports KCI recommandent les artisans de l'annuaire</a:t>
            </a:r>
            <a:endParaRPr lang="en-US" sz="900" dirty="0"/>
          </a:p>
        </p:txBody>
      </p:sp>
      <p:sp>
        <p:nvSpPr>
          <p:cNvPr id="21" name="Shape 19"/>
          <p:cNvSpPr/>
          <p:nvPr/>
        </p:nvSpPr>
        <p:spPr>
          <a:xfrm>
            <a:off x="6995160" y="3657600"/>
            <a:ext cx="1965960" cy="1097280"/>
          </a:xfrm>
          <a:prstGeom prst="rect">
            <a:avLst/>
          </a:prstGeom>
          <a:solidFill>
            <a:srgbClr val="FFFFFF"/>
          </a:solidFill>
          <a:ln/>
          <a:effectLst>
            <a:outerShdw sx="100000" sy="100000" kx="0" ky="0" algn="bl" rotWithShape="0" blurRad="101600" dist="38100" dir="8100000">
              <a:srgbClr val="000000">
                <a:alpha val="20000"/>
              </a:srgbClr>
            </a:outerShdw>
          </a:effectLst>
        </p:spPr>
      </p:sp>
      <p:sp>
        <p:nvSpPr>
          <p:cNvPr id="22" name="Shape 20"/>
          <p:cNvSpPr/>
          <p:nvPr/>
        </p:nvSpPr>
        <p:spPr>
          <a:xfrm>
            <a:off x="6995160" y="3657600"/>
            <a:ext cx="1965960" cy="36576"/>
          </a:xfrm>
          <a:prstGeom prst="rect">
            <a:avLst/>
          </a:prstGeom>
          <a:solidFill>
            <a:srgbClr val="D4A017"/>
          </a:solidFill>
          <a:ln/>
        </p:spPr>
      </p:sp>
      <p:sp>
        <p:nvSpPr>
          <p:cNvPr id="23" name="Text 21"/>
          <p:cNvSpPr/>
          <p:nvPr/>
        </p:nvSpPr>
        <p:spPr>
          <a:xfrm>
            <a:off x="7132320" y="3794760"/>
            <a:ext cx="1691640" cy="822960"/>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Les architectes de l'annuaire commandent des fichiers Topo3D</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indent="0" marL="0">
              <a:buNone/>
            </a:pPr>
            <a:r>
              <a:rPr lang="en-US" sz="2400" b="1" dirty="0">
                <a:solidFill>
                  <a:srgbClr val="1A2744"/>
                </a:solidFill>
                <a:latin typeface="Georgia" pitchFamily="34" charset="0"/>
                <a:ea typeface="Georgia" pitchFamily="34" charset="-122"/>
                <a:cs typeface="Georgia" pitchFamily="34" charset="-120"/>
              </a:rPr>
              <a:t>Investissement minimal, marges elevees</a:t>
            </a:r>
            <a:endParaRPr lang="en-US" sz="2400" dirty="0"/>
          </a:p>
        </p:txBody>
      </p:sp>
      <p:sp>
        <p:nvSpPr>
          <p:cNvPr id="3" name="Shape 1"/>
          <p:cNvSpPr/>
          <p:nvPr/>
        </p:nvSpPr>
        <p:spPr>
          <a:xfrm>
            <a:off x="548640" y="868680"/>
            <a:ext cx="1371600" cy="36576"/>
          </a:xfrm>
          <a:prstGeom prst="rect">
            <a:avLst/>
          </a:prstGeom>
          <a:solidFill>
            <a:srgbClr val="D4A017"/>
          </a:solidFill>
          <a:ln/>
        </p:spPr>
      </p:sp>
      <p:sp>
        <p:nvSpPr>
          <p:cNvPr id="4" name="Text 2"/>
          <p:cNvSpPr/>
          <p:nvPr/>
        </p:nvSpPr>
        <p:spPr>
          <a:xfrm>
            <a:off x="548640" y="1097280"/>
            <a:ext cx="4114800" cy="365760"/>
          </a:xfrm>
          <a:prstGeom prst="rect">
            <a:avLst/>
          </a:prstGeom>
          <a:noFill/>
          <a:ln/>
        </p:spPr>
        <p:txBody>
          <a:bodyPr wrap="square" lIns="0" tIns="0" rIns="0" bIns="0" rtlCol="0" anchor="ctr"/>
          <a:lstStyle/>
          <a:p>
            <a:pPr indent="0" marL="0">
              <a:buNone/>
            </a:pPr>
            <a:r>
              <a:rPr lang="en-US" sz="1400" b="1" dirty="0">
                <a:solidFill>
                  <a:srgbClr val="1A2744"/>
                </a:solidFill>
                <a:latin typeface="Calibri" pitchFamily="34" charset="0"/>
                <a:ea typeface="Calibri" pitchFamily="34" charset="-122"/>
                <a:cs typeface="Calibri" pitchFamily="34" charset="-120"/>
              </a:rPr>
              <a:t>Structure de couts</a:t>
            </a:r>
            <a:endParaRPr lang="en-US" sz="1400" dirty="0"/>
          </a:p>
        </p:txBody>
      </p:sp>
      <p:sp>
        <p:nvSpPr>
          <p:cNvPr id="5" name="Shape 3"/>
          <p:cNvSpPr/>
          <p:nvPr/>
        </p:nvSpPr>
        <p:spPr>
          <a:xfrm>
            <a:off x="548640" y="1554480"/>
            <a:ext cx="4114800" cy="384048"/>
          </a:xfrm>
          <a:prstGeom prst="rect">
            <a:avLst/>
          </a:prstGeom>
          <a:solidFill>
            <a:srgbClr val="FFFFFF"/>
          </a:solidFill>
          <a:ln/>
        </p:spPr>
      </p:sp>
      <p:sp>
        <p:nvSpPr>
          <p:cNvPr id="6" name="Text 4"/>
          <p:cNvSpPr/>
          <p:nvPr/>
        </p:nvSpPr>
        <p:spPr>
          <a:xfrm>
            <a:off x="731520" y="1554480"/>
            <a:ext cx="2560320" cy="38404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Creation micro-entreprise</a:t>
            </a:r>
            <a:endParaRPr lang="en-US" sz="1000" dirty="0"/>
          </a:p>
        </p:txBody>
      </p:sp>
      <p:sp>
        <p:nvSpPr>
          <p:cNvPr id="7" name="Text 5"/>
          <p:cNvSpPr/>
          <p:nvPr/>
        </p:nvSpPr>
        <p:spPr>
          <a:xfrm>
            <a:off x="3291840" y="1554480"/>
            <a:ext cx="1280160" cy="384048"/>
          </a:xfrm>
          <a:prstGeom prst="rect">
            <a:avLst/>
          </a:prstGeom>
          <a:noFill/>
          <a:ln/>
        </p:spPr>
        <p:txBody>
          <a:bodyPr wrap="square" lIns="0" tIns="0" rIns="0" bIns="0" rtlCol="0" anchor="ctr"/>
          <a:lstStyle/>
          <a:p>
            <a:pPr algn="r" indent="0" marL="0">
              <a:buNone/>
            </a:pPr>
            <a:r>
              <a:rPr lang="en-US" sz="1000" b="1" dirty="0">
                <a:solidFill>
                  <a:srgbClr val="1A2744"/>
                </a:solidFill>
                <a:latin typeface="Calibri" pitchFamily="34" charset="0"/>
                <a:ea typeface="Calibri" pitchFamily="34" charset="-122"/>
                <a:cs typeface="Calibri" pitchFamily="34" charset="-120"/>
              </a:rPr>
              <a:t>0 EUR</a:t>
            </a:r>
            <a:endParaRPr lang="en-US" sz="1000" dirty="0"/>
          </a:p>
        </p:txBody>
      </p:sp>
      <p:sp>
        <p:nvSpPr>
          <p:cNvPr id="8" name="Shape 6"/>
          <p:cNvSpPr/>
          <p:nvPr/>
        </p:nvSpPr>
        <p:spPr>
          <a:xfrm>
            <a:off x="548640" y="1965960"/>
            <a:ext cx="4114800" cy="384048"/>
          </a:xfrm>
          <a:prstGeom prst="rect">
            <a:avLst/>
          </a:prstGeom>
          <a:solidFill>
            <a:srgbClr val="F1F5F9"/>
          </a:solidFill>
          <a:ln/>
        </p:spPr>
      </p:sp>
      <p:sp>
        <p:nvSpPr>
          <p:cNvPr id="9" name="Text 7"/>
          <p:cNvSpPr/>
          <p:nvPr/>
        </p:nvSpPr>
        <p:spPr>
          <a:xfrm>
            <a:off x="731520" y="1965960"/>
            <a:ext cx="2560320" cy="38404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Hebergement web</a:t>
            </a:r>
            <a:endParaRPr lang="en-US" sz="1000" dirty="0"/>
          </a:p>
        </p:txBody>
      </p:sp>
      <p:sp>
        <p:nvSpPr>
          <p:cNvPr id="10" name="Text 8"/>
          <p:cNvSpPr/>
          <p:nvPr/>
        </p:nvSpPr>
        <p:spPr>
          <a:xfrm>
            <a:off x="3291840" y="1965960"/>
            <a:ext cx="1280160" cy="384048"/>
          </a:xfrm>
          <a:prstGeom prst="rect">
            <a:avLst/>
          </a:prstGeom>
          <a:noFill/>
          <a:ln/>
        </p:spPr>
        <p:txBody>
          <a:bodyPr wrap="square" lIns="0" tIns="0" rIns="0" bIns="0" rtlCol="0" anchor="ctr"/>
          <a:lstStyle/>
          <a:p>
            <a:pPr algn="r" indent="0" marL="0">
              <a:buNone/>
            </a:pPr>
            <a:r>
              <a:rPr lang="en-US" sz="1000" b="1" dirty="0">
                <a:solidFill>
                  <a:srgbClr val="1A2744"/>
                </a:solidFill>
                <a:latin typeface="Calibri" pitchFamily="34" charset="0"/>
                <a:ea typeface="Calibri" pitchFamily="34" charset="-122"/>
                <a:cs typeface="Calibri" pitchFamily="34" charset="-120"/>
              </a:rPr>
              <a:t>~30 EUR/mois</a:t>
            </a:r>
            <a:endParaRPr lang="en-US" sz="1000" dirty="0"/>
          </a:p>
        </p:txBody>
      </p:sp>
      <p:sp>
        <p:nvSpPr>
          <p:cNvPr id="11" name="Shape 9"/>
          <p:cNvSpPr/>
          <p:nvPr/>
        </p:nvSpPr>
        <p:spPr>
          <a:xfrm>
            <a:off x="548640" y="2377440"/>
            <a:ext cx="4114800" cy="384048"/>
          </a:xfrm>
          <a:prstGeom prst="rect">
            <a:avLst/>
          </a:prstGeom>
          <a:solidFill>
            <a:srgbClr val="FFFFFF"/>
          </a:solidFill>
          <a:ln/>
        </p:spPr>
      </p:sp>
      <p:sp>
        <p:nvSpPr>
          <p:cNvPr id="12" name="Text 10"/>
          <p:cNvSpPr/>
          <p:nvPr/>
        </p:nvSpPr>
        <p:spPr>
          <a:xfrm>
            <a:off x="731520" y="2377440"/>
            <a:ext cx="2560320" cy="38404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Noms de domaine</a:t>
            </a:r>
            <a:endParaRPr lang="en-US" sz="1000" dirty="0"/>
          </a:p>
        </p:txBody>
      </p:sp>
      <p:sp>
        <p:nvSpPr>
          <p:cNvPr id="13" name="Text 11"/>
          <p:cNvSpPr/>
          <p:nvPr/>
        </p:nvSpPr>
        <p:spPr>
          <a:xfrm>
            <a:off x="3291840" y="2377440"/>
            <a:ext cx="1280160" cy="384048"/>
          </a:xfrm>
          <a:prstGeom prst="rect">
            <a:avLst/>
          </a:prstGeom>
          <a:noFill/>
          <a:ln/>
        </p:spPr>
        <p:txBody>
          <a:bodyPr wrap="square" lIns="0" tIns="0" rIns="0" bIns="0" rtlCol="0" anchor="ctr"/>
          <a:lstStyle/>
          <a:p>
            <a:pPr algn="r" indent="0" marL="0">
              <a:buNone/>
            </a:pPr>
            <a:r>
              <a:rPr lang="en-US" sz="1000" b="1" dirty="0">
                <a:solidFill>
                  <a:srgbClr val="1A2744"/>
                </a:solidFill>
                <a:latin typeface="Calibri" pitchFamily="34" charset="0"/>
                <a:ea typeface="Calibri" pitchFamily="34" charset="-122"/>
                <a:cs typeface="Calibri" pitchFamily="34" charset="-120"/>
              </a:rPr>
              <a:t>~15 EUR/an</a:t>
            </a:r>
            <a:endParaRPr lang="en-US" sz="1000" dirty="0"/>
          </a:p>
        </p:txBody>
      </p:sp>
      <p:sp>
        <p:nvSpPr>
          <p:cNvPr id="14" name="Shape 12"/>
          <p:cNvSpPr/>
          <p:nvPr/>
        </p:nvSpPr>
        <p:spPr>
          <a:xfrm>
            <a:off x="548640" y="2788920"/>
            <a:ext cx="4114800" cy="384048"/>
          </a:xfrm>
          <a:prstGeom prst="rect">
            <a:avLst/>
          </a:prstGeom>
          <a:solidFill>
            <a:srgbClr val="F1F5F9"/>
          </a:solidFill>
          <a:ln/>
        </p:spPr>
      </p:sp>
      <p:sp>
        <p:nvSpPr>
          <p:cNvPr id="15" name="Text 13"/>
          <p:cNvSpPr/>
          <p:nvPr/>
        </p:nvSpPr>
        <p:spPr>
          <a:xfrm>
            <a:off x="731520" y="2788920"/>
            <a:ext cx="2560320" cy="38404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Outils (emailing, CRM)</a:t>
            </a:r>
            <a:endParaRPr lang="en-US" sz="1000" dirty="0"/>
          </a:p>
        </p:txBody>
      </p:sp>
      <p:sp>
        <p:nvSpPr>
          <p:cNvPr id="16" name="Text 14"/>
          <p:cNvSpPr/>
          <p:nvPr/>
        </p:nvSpPr>
        <p:spPr>
          <a:xfrm>
            <a:off x="3291840" y="2788920"/>
            <a:ext cx="1280160" cy="384048"/>
          </a:xfrm>
          <a:prstGeom prst="rect">
            <a:avLst/>
          </a:prstGeom>
          <a:noFill/>
          <a:ln/>
        </p:spPr>
        <p:txBody>
          <a:bodyPr wrap="square" lIns="0" tIns="0" rIns="0" bIns="0" rtlCol="0" anchor="ctr"/>
          <a:lstStyle/>
          <a:p>
            <a:pPr algn="r" indent="0" marL="0">
              <a:buNone/>
            </a:pPr>
            <a:r>
              <a:rPr lang="en-US" sz="1000" b="1" dirty="0">
                <a:solidFill>
                  <a:srgbClr val="1A2744"/>
                </a:solidFill>
                <a:latin typeface="Calibri" pitchFamily="34" charset="0"/>
                <a:ea typeface="Calibri" pitchFamily="34" charset="-122"/>
                <a:cs typeface="Calibri" pitchFamily="34" charset="-120"/>
              </a:rPr>
              <a:t>~50 EUR/mois</a:t>
            </a:r>
            <a:endParaRPr lang="en-US" sz="1000" dirty="0"/>
          </a:p>
        </p:txBody>
      </p:sp>
      <p:sp>
        <p:nvSpPr>
          <p:cNvPr id="17" name="Shape 15"/>
          <p:cNvSpPr/>
          <p:nvPr/>
        </p:nvSpPr>
        <p:spPr>
          <a:xfrm>
            <a:off x="548640" y="3200400"/>
            <a:ext cx="4114800" cy="384048"/>
          </a:xfrm>
          <a:prstGeom prst="rect">
            <a:avLst/>
          </a:prstGeom>
          <a:solidFill>
            <a:srgbClr val="FFFFFF"/>
          </a:solidFill>
          <a:ln/>
        </p:spPr>
      </p:sp>
      <p:sp>
        <p:nvSpPr>
          <p:cNvPr id="18" name="Text 16"/>
          <p:cNvSpPr/>
          <p:nvPr/>
        </p:nvSpPr>
        <p:spPr>
          <a:xfrm>
            <a:off x="731520" y="3200400"/>
            <a:ext cx="2560320" cy="38404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APIs IGN (Topo3D)</a:t>
            </a:r>
            <a:endParaRPr lang="en-US" sz="1000" dirty="0"/>
          </a:p>
        </p:txBody>
      </p:sp>
      <p:sp>
        <p:nvSpPr>
          <p:cNvPr id="19" name="Text 17"/>
          <p:cNvSpPr/>
          <p:nvPr/>
        </p:nvSpPr>
        <p:spPr>
          <a:xfrm>
            <a:off x="3291840" y="3200400"/>
            <a:ext cx="1280160" cy="384048"/>
          </a:xfrm>
          <a:prstGeom prst="rect">
            <a:avLst/>
          </a:prstGeom>
          <a:noFill/>
          <a:ln/>
        </p:spPr>
        <p:txBody>
          <a:bodyPr wrap="square" lIns="0" tIns="0" rIns="0" bIns="0" rtlCol="0" anchor="ctr"/>
          <a:lstStyle/>
          <a:p>
            <a:pPr algn="r" indent="0" marL="0">
              <a:buNone/>
            </a:pPr>
            <a:r>
              <a:rPr lang="en-US" sz="1000" b="1" dirty="0">
                <a:solidFill>
                  <a:srgbClr val="1A2744"/>
                </a:solidFill>
                <a:latin typeface="Calibri" pitchFamily="34" charset="0"/>
                <a:ea typeface="Calibri" pitchFamily="34" charset="-122"/>
                <a:cs typeface="Calibri" pitchFamily="34" charset="-120"/>
              </a:rPr>
              <a:t>0 EUR (gratuit)</a:t>
            </a:r>
            <a:endParaRPr lang="en-US" sz="1000" dirty="0"/>
          </a:p>
        </p:txBody>
      </p:sp>
      <p:sp>
        <p:nvSpPr>
          <p:cNvPr id="20" name="Shape 18"/>
          <p:cNvSpPr/>
          <p:nvPr/>
        </p:nvSpPr>
        <p:spPr>
          <a:xfrm>
            <a:off x="548640" y="3611880"/>
            <a:ext cx="4114800" cy="384048"/>
          </a:xfrm>
          <a:prstGeom prst="rect">
            <a:avLst/>
          </a:prstGeom>
          <a:solidFill>
            <a:srgbClr val="F1F5F9"/>
          </a:solidFill>
          <a:ln/>
        </p:spPr>
      </p:sp>
      <p:sp>
        <p:nvSpPr>
          <p:cNvPr id="21" name="Text 19"/>
          <p:cNvSpPr/>
          <p:nvPr/>
        </p:nvSpPr>
        <p:spPr>
          <a:xfrm>
            <a:off x="731520" y="3611880"/>
            <a:ext cx="2560320" cy="38404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Marketing</a:t>
            </a:r>
            <a:endParaRPr lang="en-US" sz="1000" dirty="0"/>
          </a:p>
        </p:txBody>
      </p:sp>
      <p:sp>
        <p:nvSpPr>
          <p:cNvPr id="22" name="Text 20"/>
          <p:cNvSpPr/>
          <p:nvPr/>
        </p:nvSpPr>
        <p:spPr>
          <a:xfrm>
            <a:off x="3291840" y="3611880"/>
            <a:ext cx="1280160" cy="384048"/>
          </a:xfrm>
          <a:prstGeom prst="rect">
            <a:avLst/>
          </a:prstGeom>
          <a:noFill/>
          <a:ln/>
        </p:spPr>
        <p:txBody>
          <a:bodyPr wrap="square" lIns="0" tIns="0" rIns="0" bIns="0" rtlCol="0" anchor="ctr"/>
          <a:lstStyle/>
          <a:p>
            <a:pPr algn="r" indent="0" marL="0">
              <a:buNone/>
            </a:pPr>
            <a:r>
              <a:rPr lang="en-US" sz="1000" b="1" dirty="0">
                <a:solidFill>
                  <a:srgbClr val="1A2744"/>
                </a:solidFill>
                <a:latin typeface="Calibri" pitchFamily="34" charset="0"/>
                <a:ea typeface="Calibri" pitchFamily="34" charset="-122"/>
                <a:cs typeface="Calibri" pitchFamily="34" charset="-120"/>
              </a:rPr>
              <a:t>0-200 EUR/mois</a:t>
            </a:r>
            <a:endParaRPr lang="en-US" sz="1000" dirty="0"/>
          </a:p>
        </p:txBody>
      </p:sp>
      <p:sp>
        <p:nvSpPr>
          <p:cNvPr id="23" name="Shape 21"/>
          <p:cNvSpPr/>
          <p:nvPr/>
        </p:nvSpPr>
        <p:spPr>
          <a:xfrm>
            <a:off x="548640" y="4023360"/>
            <a:ext cx="4114800" cy="457200"/>
          </a:xfrm>
          <a:prstGeom prst="rect">
            <a:avLst/>
          </a:prstGeom>
          <a:solidFill>
            <a:srgbClr val="1A2744"/>
          </a:solidFill>
          <a:ln/>
        </p:spPr>
      </p:sp>
      <p:sp>
        <p:nvSpPr>
          <p:cNvPr id="24" name="Text 22"/>
          <p:cNvSpPr/>
          <p:nvPr/>
        </p:nvSpPr>
        <p:spPr>
          <a:xfrm>
            <a:off x="731520" y="4023360"/>
            <a:ext cx="37490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TOTAL Annee 1 :  1 500 - 3 000 EUR</a:t>
            </a:r>
            <a:endParaRPr lang="en-US" sz="1200" dirty="0"/>
          </a:p>
        </p:txBody>
      </p:sp>
      <p:sp>
        <p:nvSpPr>
          <p:cNvPr id="25" name="Shape 23"/>
          <p:cNvSpPr/>
          <p:nvPr/>
        </p:nvSpPr>
        <p:spPr>
          <a:xfrm>
            <a:off x="5303520" y="1097280"/>
            <a:ext cx="3474720" cy="1051560"/>
          </a:xfrm>
          <a:prstGeom prst="rect">
            <a:avLst/>
          </a:prstGeom>
          <a:solidFill>
            <a:srgbClr val="FFFFFF"/>
          </a:solidFill>
          <a:ln/>
          <a:effectLst>
            <a:outerShdw sx="100000" sy="100000" kx="0" ky="0" algn="bl" rotWithShape="0" blurRad="101600" dist="38100" dir="8100000">
              <a:srgbClr val="000000">
                <a:alpha val="20000"/>
              </a:srgbClr>
            </a:outerShdw>
          </a:effectLst>
        </p:spPr>
      </p:sp>
      <p:sp>
        <p:nvSpPr>
          <p:cNvPr id="26" name="Shape 24"/>
          <p:cNvSpPr/>
          <p:nvPr/>
        </p:nvSpPr>
        <p:spPr>
          <a:xfrm>
            <a:off x="5303520" y="1097280"/>
            <a:ext cx="54864" cy="1051560"/>
          </a:xfrm>
          <a:prstGeom prst="rect">
            <a:avLst/>
          </a:prstGeom>
          <a:solidFill>
            <a:srgbClr val="059669"/>
          </a:solidFill>
          <a:ln/>
        </p:spPr>
      </p:sp>
      <p:sp>
        <p:nvSpPr>
          <p:cNvPr id="27" name="Text 25"/>
          <p:cNvSpPr/>
          <p:nvPr/>
        </p:nvSpPr>
        <p:spPr>
          <a:xfrm>
            <a:off x="5577840" y="1188720"/>
            <a:ext cx="1371600" cy="731520"/>
          </a:xfrm>
          <a:prstGeom prst="rect">
            <a:avLst/>
          </a:prstGeom>
          <a:noFill/>
          <a:ln/>
        </p:spPr>
        <p:txBody>
          <a:bodyPr wrap="square" lIns="0" tIns="0" rIns="0" bIns="0" rtlCol="0" anchor="ctr"/>
          <a:lstStyle/>
          <a:p>
            <a:pPr indent="0" marL="0">
              <a:buNone/>
            </a:pPr>
            <a:r>
              <a:rPr lang="en-US" sz="3200" b="1" dirty="0">
                <a:solidFill>
                  <a:srgbClr val="059669"/>
                </a:solidFill>
                <a:latin typeface="Georgia" pitchFamily="34" charset="0"/>
                <a:ea typeface="Georgia" pitchFamily="34" charset="-122"/>
                <a:cs typeface="Georgia" pitchFamily="34" charset="-120"/>
              </a:rPr>
              <a:t>85%+</a:t>
            </a:r>
            <a:endParaRPr lang="en-US" sz="3200" dirty="0"/>
          </a:p>
        </p:txBody>
      </p:sp>
      <p:sp>
        <p:nvSpPr>
          <p:cNvPr id="28" name="Text 26"/>
          <p:cNvSpPr/>
          <p:nvPr/>
        </p:nvSpPr>
        <p:spPr>
          <a:xfrm>
            <a:off x="6949440" y="1188720"/>
            <a:ext cx="1645920" cy="73152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Marge brute</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sur chaque vente</a:t>
            </a:r>
            <a:endParaRPr lang="en-US" sz="1100" dirty="0"/>
          </a:p>
        </p:txBody>
      </p:sp>
      <p:sp>
        <p:nvSpPr>
          <p:cNvPr id="29" name="Shape 27"/>
          <p:cNvSpPr/>
          <p:nvPr/>
        </p:nvSpPr>
        <p:spPr>
          <a:xfrm>
            <a:off x="5303520" y="2331720"/>
            <a:ext cx="3474720" cy="1051560"/>
          </a:xfrm>
          <a:prstGeom prst="rect">
            <a:avLst/>
          </a:prstGeom>
          <a:solidFill>
            <a:srgbClr val="FFFFFF"/>
          </a:solidFill>
          <a:ln/>
          <a:effectLst>
            <a:outerShdw sx="100000" sy="100000" kx="0" ky="0" algn="bl" rotWithShape="0" blurRad="101600" dist="38100" dir="8100000">
              <a:srgbClr val="000000">
                <a:alpha val="20000"/>
              </a:srgbClr>
            </a:outerShdw>
          </a:effectLst>
        </p:spPr>
      </p:sp>
      <p:sp>
        <p:nvSpPr>
          <p:cNvPr id="30" name="Shape 28"/>
          <p:cNvSpPr/>
          <p:nvPr/>
        </p:nvSpPr>
        <p:spPr>
          <a:xfrm>
            <a:off x="5303520" y="2331720"/>
            <a:ext cx="54864" cy="1051560"/>
          </a:xfrm>
          <a:prstGeom prst="rect">
            <a:avLst/>
          </a:prstGeom>
          <a:solidFill>
            <a:srgbClr val="D4A017"/>
          </a:solidFill>
          <a:ln/>
        </p:spPr>
      </p:sp>
      <p:sp>
        <p:nvSpPr>
          <p:cNvPr id="31" name="Text 29"/>
          <p:cNvSpPr/>
          <p:nvPr/>
        </p:nvSpPr>
        <p:spPr>
          <a:xfrm>
            <a:off x="5577840" y="2423160"/>
            <a:ext cx="1371600" cy="731520"/>
          </a:xfrm>
          <a:prstGeom prst="rect">
            <a:avLst/>
          </a:prstGeom>
          <a:noFill/>
          <a:ln/>
        </p:spPr>
        <p:txBody>
          <a:bodyPr wrap="square" lIns="0" tIns="0" rIns="0" bIns="0" rtlCol="0" anchor="ctr"/>
          <a:lstStyle/>
          <a:p>
            <a:pPr indent="0" marL="0">
              <a:buNone/>
            </a:pPr>
            <a:r>
              <a:rPr lang="en-US" sz="3200" b="1" dirty="0">
                <a:solidFill>
                  <a:srgbClr val="D4A017"/>
                </a:solidFill>
                <a:latin typeface="Georgia" pitchFamily="34" charset="0"/>
                <a:ea typeface="Georgia" pitchFamily="34" charset="-122"/>
                <a:cs typeface="Georgia" pitchFamily="34" charset="-120"/>
              </a:rPr>
              <a:t>&lt;3K</a:t>
            </a:r>
            <a:endParaRPr lang="en-US" sz="3200" dirty="0"/>
          </a:p>
        </p:txBody>
      </p:sp>
      <p:sp>
        <p:nvSpPr>
          <p:cNvPr id="32" name="Text 30"/>
          <p:cNvSpPr/>
          <p:nvPr/>
        </p:nvSpPr>
        <p:spPr>
          <a:xfrm>
            <a:off x="6949440" y="2423160"/>
            <a:ext cx="1645920" cy="73152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Investissement</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initial total</a:t>
            </a:r>
            <a:endParaRPr lang="en-US" sz="1100" dirty="0"/>
          </a:p>
        </p:txBody>
      </p:sp>
      <p:sp>
        <p:nvSpPr>
          <p:cNvPr id="33" name="Shape 31"/>
          <p:cNvSpPr/>
          <p:nvPr/>
        </p:nvSpPr>
        <p:spPr>
          <a:xfrm>
            <a:off x="5303520" y="3566160"/>
            <a:ext cx="3474720" cy="1051560"/>
          </a:xfrm>
          <a:prstGeom prst="rect">
            <a:avLst/>
          </a:prstGeom>
          <a:solidFill>
            <a:srgbClr val="FFFFFF"/>
          </a:solidFill>
          <a:ln/>
          <a:effectLst>
            <a:outerShdw sx="100000" sy="100000" kx="0" ky="0" algn="bl" rotWithShape="0" blurRad="101600" dist="38100" dir="8100000">
              <a:srgbClr val="000000">
                <a:alpha val="20000"/>
              </a:srgbClr>
            </a:outerShdw>
          </a:effectLst>
        </p:spPr>
      </p:sp>
      <p:sp>
        <p:nvSpPr>
          <p:cNvPr id="34" name="Shape 32"/>
          <p:cNvSpPr/>
          <p:nvPr/>
        </p:nvSpPr>
        <p:spPr>
          <a:xfrm>
            <a:off x="5303520" y="3566160"/>
            <a:ext cx="54864" cy="1051560"/>
          </a:xfrm>
          <a:prstGeom prst="rect">
            <a:avLst/>
          </a:prstGeom>
          <a:solidFill>
            <a:srgbClr val="2563EB"/>
          </a:solidFill>
          <a:ln/>
        </p:spPr>
      </p:sp>
      <p:sp>
        <p:nvSpPr>
          <p:cNvPr id="35" name="Text 33"/>
          <p:cNvSpPr/>
          <p:nvPr/>
        </p:nvSpPr>
        <p:spPr>
          <a:xfrm>
            <a:off x="5577840" y="3657600"/>
            <a:ext cx="1371600" cy="731520"/>
          </a:xfrm>
          <a:prstGeom prst="rect">
            <a:avLst/>
          </a:prstGeom>
          <a:noFill/>
          <a:ln/>
        </p:spPr>
        <p:txBody>
          <a:bodyPr wrap="square" lIns="0" tIns="0" rIns="0" bIns="0" rtlCol="0" anchor="ctr"/>
          <a:lstStyle/>
          <a:p>
            <a:pPr indent="0" marL="0">
              <a:buNone/>
            </a:pPr>
            <a:r>
              <a:rPr lang="en-US" sz="3200" b="1" dirty="0">
                <a:solidFill>
                  <a:srgbClr val="2563EB"/>
                </a:solidFill>
                <a:latin typeface="Georgia" pitchFamily="34" charset="0"/>
                <a:ea typeface="Georgia" pitchFamily="34" charset="-122"/>
                <a:cs typeface="Georgia" pitchFamily="34" charset="-120"/>
              </a:rPr>
              <a:t>M4-5</a:t>
            </a:r>
            <a:endParaRPr lang="en-US" sz="3200" dirty="0"/>
          </a:p>
        </p:txBody>
      </p:sp>
      <p:sp>
        <p:nvSpPr>
          <p:cNvPr id="36" name="Text 34"/>
          <p:cNvSpPr/>
          <p:nvPr/>
        </p:nvSpPr>
        <p:spPr>
          <a:xfrm>
            <a:off x="6949440" y="3657600"/>
            <a:ext cx="1645920" cy="73152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Point de</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rentabilite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2744"/>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Projections financieres — 5 ans</a:t>
            </a:r>
            <a:endParaRPr lang="en-US" sz="2400" dirty="0"/>
          </a:p>
        </p:txBody>
      </p:sp>
      <p:graphicFrame>
        <p:nvGraphicFramePr>
          <p:cNvPr id="3" name="Chart 0" descr=""/>
          <p:cNvGraphicFramePr/>
          <p:nvPr/>
        </p:nvGraphicFramePr>
        <p:xfrm>
          <a:off x="457200" y="100584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5852160" y="1005840"/>
            <a:ext cx="2926080" cy="594360"/>
          </a:xfrm>
          <a:prstGeom prst="rect">
            <a:avLst/>
          </a:prstGeom>
          <a:solidFill>
            <a:srgbClr val="243352"/>
          </a:solidFill>
          <a:ln/>
        </p:spPr>
      </p:sp>
      <p:sp>
        <p:nvSpPr>
          <p:cNvPr id="5" name="Text 2"/>
          <p:cNvSpPr/>
          <p:nvPr/>
        </p:nvSpPr>
        <p:spPr>
          <a:xfrm>
            <a:off x="6035040" y="1051560"/>
            <a:ext cx="731520" cy="228600"/>
          </a:xfrm>
          <a:prstGeom prst="rect">
            <a:avLst/>
          </a:prstGeom>
          <a:noFill/>
          <a:ln/>
        </p:spPr>
        <p:txBody>
          <a:bodyPr wrap="square" lIns="0" tIns="0" rIns="0" bIns="0" rtlCol="0" anchor="ctr"/>
          <a:lstStyle/>
          <a:p>
            <a:pPr indent="0" marL="0">
              <a:buNone/>
            </a:pPr>
            <a:r>
              <a:rPr lang="en-US" sz="1000" b="1" dirty="0">
                <a:solidFill>
                  <a:srgbClr val="D4A017"/>
                </a:solidFill>
                <a:latin typeface="Calibri" pitchFamily="34" charset="0"/>
                <a:ea typeface="Calibri" pitchFamily="34" charset="-122"/>
                <a:cs typeface="Calibri" pitchFamily="34" charset="-120"/>
              </a:rPr>
              <a:t>An 1</a:t>
            </a:r>
            <a:endParaRPr lang="en-US" sz="1000" dirty="0"/>
          </a:p>
        </p:txBody>
      </p:sp>
      <p:sp>
        <p:nvSpPr>
          <p:cNvPr id="6" name="Text 3"/>
          <p:cNvSpPr/>
          <p:nvPr/>
        </p:nvSpPr>
        <p:spPr>
          <a:xfrm>
            <a:off x="6766560" y="1051560"/>
            <a:ext cx="1097280" cy="228600"/>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22K EUR</a:t>
            </a:r>
            <a:endParaRPr lang="en-US" sz="1200" dirty="0"/>
          </a:p>
        </p:txBody>
      </p:sp>
      <p:sp>
        <p:nvSpPr>
          <p:cNvPr id="7" name="Text 4"/>
          <p:cNvSpPr/>
          <p:nvPr/>
        </p:nvSpPr>
        <p:spPr>
          <a:xfrm>
            <a:off x="6035040" y="1280160"/>
            <a:ext cx="256032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Complement de revenus</a:t>
            </a:r>
            <a:endParaRPr lang="en-US" sz="900" dirty="0"/>
          </a:p>
        </p:txBody>
      </p:sp>
      <p:sp>
        <p:nvSpPr>
          <p:cNvPr id="8" name="Shape 5"/>
          <p:cNvSpPr/>
          <p:nvPr/>
        </p:nvSpPr>
        <p:spPr>
          <a:xfrm>
            <a:off x="5852160" y="1691640"/>
            <a:ext cx="2926080" cy="594360"/>
          </a:xfrm>
          <a:prstGeom prst="rect">
            <a:avLst/>
          </a:prstGeom>
          <a:solidFill>
            <a:srgbClr val="243352"/>
          </a:solidFill>
          <a:ln/>
        </p:spPr>
      </p:sp>
      <p:sp>
        <p:nvSpPr>
          <p:cNvPr id="9" name="Text 6"/>
          <p:cNvSpPr/>
          <p:nvPr/>
        </p:nvSpPr>
        <p:spPr>
          <a:xfrm>
            <a:off x="6035040" y="1737360"/>
            <a:ext cx="731520" cy="228600"/>
          </a:xfrm>
          <a:prstGeom prst="rect">
            <a:avLst/>
          </a:prstGeom>
          <a:noFill/>
          <a:ln/>
        </p:spPr>
        <p:txBody>
          <a:bodyPr wrap="square" lIns="0" tIns="0" rIns="0" bIns="0" rtlCol="0" anchor="ctr"/>
          <a:lstStyle/>
          <a:p>
            <a:pPr indent="0" marL="0">
              <a:buNone/>
            </a:pPr>
            <a:r>
              <a:rPr lang="en-US" sz="1000" b="1" dirty="0">
                <a:solidFill>
                  <a:srgbClr val="D4A017"/>
                </a:solidFill>
                <a:latin typeface="Calibri" pitchFamily="34" charset="0"/>
                <a:ea typeface="Calibri" pitchFamily="34" charset="-122"/>
                <a:cs typeface="Calibri" pitchFamily="34" charset="-120"/>
              </a:rPr>
              <a:t>An 2</a:t>
            </a:r>
            <a:endParaRPr lang="en-US" sz="1000" dirty="0"/>
          </a:p>
        </p:txBody>
      </p:sp>
      <p:sp>
        <p:nvSpPr>
          <p:cNvPr id="10" name="Text 7"/>
          <p:cNvSpPr/>
          <p:nvPr/>
        </p:nvSpPr>
        <p:spPr>
          <a:xfrm>
            <a:off x="6766560" y="1737360"/>
            <a:ext cx="1097280" cy="228600"/>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75K EUR</a:t>
            </a:r>
            <a:endParaRPr lang="en-US" sz="1200" dirty="0"/>
          </a:p>
        </p:txBody>
      </p:sp>
      <p:sp>
        <p:nvSpPr>
          <p:cNvPr id="11" name="Text 8"/>
          <p:cNvSpPr/>
          <p:nvPr/>
        </p:nvSpPr>
        <p:spPr>
          <a:xfrm>
            <a:off x="6035040" y="1965960"/>
            <a:ext cx="256032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Salaire confortable</a:t>
            </a:r>
            <a:endParaRPr lang="en-US" sz="900" dirty="0"/>
          </a:p>
        </p:txBody>
      </p:sp>
      <p:sp>
        <p:nvSpPr>
          <p:cNvPr id="12" name="Shape 9"/>
          <p:cNvSpPr/>
          <p:nvPr/>
        </p:nvSpPr>
        <p:spPr>
          <a:xfrm>
            <a:off x="5852160" y="2377440"/>
            <a:ext cx="2926080" cy="594360"/>
          </a:xfrm>
          <a:prstGeom prst="rect">
            <a:avLst/>
          </a:prstGeom>
          <a:solidFill>
            <a:srgbClr val="243352"/>
          </a:solidFill>
          <a:ln/>
        </p:spPr>
      </p:sp>
      <p:sp>
        <p:nvSpPr>
          <p:cNvPr id="13" name="Text 10"/>
          <p:cNvSpPr/>
          <p:nvPr/>
        </p:nvSpPr>
        <p:spPr>
          <a:xfrm>
            <a:off x="6035040" y="2423160"/>
            <a:ext cx="731520" cy="228600"/>
          </a:xfrm>
          <a:prstGeom prst="rect">
            <a:avLst/>
          </a:prstGeom>
          <a:noFill/>
          <a:ln/>
        </p:spPr>
        <p:txBody>
          <a:bodyPr wrap="square" lIns="0" tIns="0" rIns="0" bIns="0" rtlCol="0" anchor="ctr"/>
          <a:lstStyle/>
          <a:p>
            <a:pPr indent="0" marL="0">
              <a:buNone/>
            </a:pPr>
            <a:r>
              <a:rPr lang="en-US" sz="1000" b="1" dirty="0">
                <a:solidFill>
                  <a:srgbClr val="D4A017"/>
                </a:solidFill>
                <a:latin typeface="Calibri" pitchFamily="34" charset="0"/>
                <a:ea typeface="Calibri" pitchFamily="34" charset="-122"/>
                <a:cs typeface="Calibri" pitchFamily="34" charset="-120"/>
              </a:rPr>
              <a:t>An 3</a:t>
            </a:r>
            <a:endParaRPr lang="en-US" sz="1000" dirty="0"/>
          </a:p>
        </p:txBody>
      </p:sp>
      <p:sp>
        <p:nvSpPr>
          <p:cNvPr id="14" name="Text 11"/>
          <p:cNvSpPr/>
          <p:nvPr/>
        </p:nvSpPr>
        <p:spPr>
          <a:xfrm>
            <a:off x="6766560" y="2423160"/>
            <a:ext cx="1097280" cy="228600"/>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160K EUR</a:t>
            </a:r>
            <a:endParaRPr lang="en-US" sz="1200" dirty="0"/>
          </a:p>
        </p:txBody>
      </p:sp>
      <p:sp>
        <p:nvSpPr>
          <p:cNvPr id="15" name="Text 12"/>
          <p:cNvSpPr/>
          <p:nvPr/>
        </p:nvSpPr>
        <p:spPr>
          <a:xfrm>
            <a:off x="6035040" y="2651760"/>
            <a:ext cx="256032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Activite principale + 1 emploi</a:t>
            </a:r>
            <a:endParaRPr lang="en-US" sz="900" dirty="0"/>
          </a:p>
        </p:txBody>
      </p:sp>
      <p:sp>
        <p:nvSpPr>
          <p:cNvPr id="16" name="Shape 13"/>
          <p:cNvSpPr/>
          <p:nvPr/>
        </p:nvSpPr>
        <p:spPr>
          <a:xfrm>
            <a:off x="5852160" y="3063240"/>
            <a:ext cx="2926080" cy="594360"/>
          </a:xfrm>
          <a:prstGeom prst="rect">
            <a:avLst/>
          </a:prstGeom>
          <a:solidFill>
            <a:srgbClr val="243352"/>
          </a:solidFill>
          <a:ln/>
        </p:spPr>
      </p:sp>
      <p:sp>
        <p:nvSpPr>
          <p:cNvPr id="17" name="Text 14"/>
          <p:cNvSpPr/>
          <p:nvPr/>
        </p:nvSpPr>
        <p:spPr>
          <a:xfrm>
            <a:off x="6035040" y="3108960"/>
            <a:ext cx="731520" cy="228600"/>
          </a:xfrm>
          <a:prstGeom prst="rect">
            <a:avLst/>
          </a:prstGeom>
          <a:noFill/>
          <a:ln/>
        </p:spPr>
        <p:txBody>
          <a:bodyPr wrap="square" lIns="0" tIns="0" rIns="0" bIns="0" rtlCol="0" anchor="ctr"/>
          <a:lstStyle/>
          <a:p>
            <a:pPr indent="0" marL="0">
              <a:buNone/>
            </a:pPr>
            <a:r>
              <a:rPr lang="en-US" sz="1000" b="1" dirty="0">
                <a:solidFill>
                  <a:srgbClr val="D4A017"/>
                </a:solidFill>
                <a:latin typeface="Calibri" pitchFamily="34" charset="0"/>
                <a:ea typeface="Calibri" pitchFamily="34" charset="-122"/>
                <a:cs typeface="Calibri" pitchFamily="34" charset="-120"/>
              </a:rPr>
              <a:t>An 4</a:t>
            </a:r>
            <a:endParaRPr lang="en-US" sz="1000" dirty="0"/>
          </a:p>
        </p:txBody>
      </p:sp>
      <p:sp>
        <p:nvSpPr>
          <p:cNvPr id="18" name="Text 15"/>
          <p:cNvSpPr/>
          <p:nvPr/>
        </p:nvSpPr>
        <p:spPr>
          <a:xfrm>
            <a:off x="6766560" y="3108960"/>
            <a:ext cx="1097280" cy="228600"/>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245K EUR</a:t>
            </a:r>
            <a:endParaRPr lang="en-US" sz="1200" dirty="0"/>
          </a:p>
        </p:txBody>
      </p:sp>
      <p:sp>
        <p:nvSpPr>
          <p:cNvPr id="19" name="Text 16"/>
          <p:cNvSpPr/>
          <p:nvPr/>
        </p:nvSpPr>
        <p:spPr>
          <a:xfrm>
            <a:off x="6035040" y="3337560"/>
            <a:ext cx="256032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Entreprise etablie, equipe de 3</a:t>
            </a:r>
            <a:endParaRPr lang="en-US" sz="900" dirty="0"/>
          </a:p>
        </p:txBody>
      </p:sp>
      <p:sp>
        <p:nvSpPr>
          <p:cNvPr id="20" name="Shape 17"/>
          <p:cNvSpPr/>
          <p:nvPr/>
        </p:nvSpPr>
        <p:spPr>
          <a:xfrm>
            <a:off x="5852160" y="3749040"/>
            <a:ext cx="2926080" cy="594360"/>
          </a:xfrm>
          <a:prstGeom prst="rect">
            <a:avLst/>
          </a:prstGeom>
          <a:solidFill>
            <a:srgbClr val="243352"/>
          </a:solidFill>
          <a:ln/>
        </p:spPr>
      </p:sp>
      <p:sp>
        <p:nvSpPr>
          <p:cNvPr id="21" name="Text 18"/>
          <p:cNvSpPr/>
          <p:nvPr/>
        </p:nvSpPr>
        <p:spPr>
          <a:xfrm>
            <a:off x="6035040" y="3794760"/>
            <a:ext cx="731520" cy="228600"/>
          </a:xfrm>
          <a:prstGeom prst="rect">
            <a:avLst/>
          </a:prstGeom>
          <a:noFill/>
          <a:ln/>
        </p:spPr>
        <p:txBody>
          <a:bodyPr wrap="square" lIns="0" tIns="0" rIns="0" bIns="0" rtlCol="0" anchor="ctr"/>
          <a:lstStyle/>
          <a:p>
            <a:pPr indent="0" marL="0">
              <a:buNone/>
            </a:pPr>
            <a:r>
              <a:rPr lang="en-US" sz="1000" b="1" dirty="0">
                <a:solidFill>
                  <a:srgbClr val="D4A017"/>
                </a:solidFill>
                <a:latin typeface="Calibri" pitchFamily="34" charset="0"/>
                <a:ea typeface="Calibri" pitchFamily="34" charset="-122"/>
                <a:cs typeface="Calibri" pitchFamily="34" charset="-120"/>
              </a:rPr>
              <a:t>An 5</a:t>
            </a:r>
            <a:endParaRPr lang="en-US" sz="1000" dirty="0"/>
          </a:p>
        </p:txBody>
      </p:sp>
      <p:sp>
        <p:nvSpPr>
          <p:cNvPr id="22" name="Text 19"/>
          <p:cNvSpPr/>
          <p:nvPr/>
        </p:nvSpPr>
        <p:spPr>
          <a:xfrm>
            <a:off x="6766560" y="3794760"/>
            <a:ext cx="1097280" cy="228600"/>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318K EUR</a:t>
            </a:r>
            <a:endParaRPr lang="en-US" sz="1200" dirty="0"/>
          </a:p>
        </p:txBody>
      </p:sp>
      <p:sp>
        <p:nvSpPr>
          <p:cNvPr id="23" name="Text 20"/>
          <p:cNvSpPr/>
          <p:nvPr/>
        </p:nvSpPr>
        <p:spPr>
          <a:xfrm>
            <a:off x="6035040" y="4023360"/>
            <a:ext cx="256032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3 DOM couverts, CA mature</a:t>
            </a:r>
            <a:endParaRPr lang="en-US" sz="900" dirty="0"/>
          </a:p>
        </p:txBody>
      </p:sp>
      <p:sp>
        <p:nvSpPr>
          <p:cNvPr id="24" name="Text 21"/>
          <p:cNvSpPr/>
          <p:nvPr/>
        </p:nvSpPr>
        <p:spPr>
          <a:xfrm>
            <a:off x="548640" y="4572000"/>
            <a:ext cx="8046720" cy="36576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Hypotheses prudentes — Expansion Martinique An 2, Guyane An 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indent="0" marL="0">
              <a:buNone/>
            </a:pPr>
            <a:r>
              <a:rPr lang="en-US" sz="2400" b="1" dirty="0">
                <a:solidFill>
                  <a:srgbClr val="1A2744"/>
                </a:solidFill>
                <a:latin typeface="Georgia" pitchFamily="34" charset="0"/>
                <a:ea typeface="Georgia" pitchFamily="34" charset="-122"/>
                <a:cs typeface="Georgia" pitchFamily="34" charset="-120"/>
              </a:rPr>
              <a:t>Ce que j'ai prevu pour limiter les risques</a:t>
            </a:r>
            <a:endParaRPr lang="en-US" sz="2400" dirty="0"/>
          </a:p>
        </p:txBody>
      </p:sp>
      <p:sp>
        <p:nvSpPr>
          <p:cNvPr id="3" name="Shape 1"/>
          <p:cNvSpPr/>
          <p:nvPr/>
        </p:nvSpPr>
        <p:spPr>
          <a:xfrm>
            <a:off x="548640" y="868680"/>
            <a:ext cx="1371600" cy="36576"/>
          </a:xfrm>
          <a:prstGeom prst="rect">
            <a:avLst/>
          </a:prstGeom>
          <a:solidFill>
            <a:srgbClr val="D4A017"/>
          </a:solidFill>
          <a:ln/>
        </p:spPr>
      </p:sp>
      <p:sp>
        <p:nvSpPr>
          <p:cNvPr id="4" name="Shape 2"/>
          <p:cNvSpPr/>
          <p:nvPr/>
        </p:nvSpPr>
        <p:spPr>
          <a:xfrm>
            <a:off x="548640" y="1097280"/>
            <a:ext cx="4023360" cy="1051560"/>
          </a:xfrm>
          <a:prstGeom prst="rect">
            <a:avLst/>
          </a:prstGeom>
          <a:solidFill>
            <a:srgbClr val="FFFFFF"/>
          </a:solidFill>
          <a:ln/>
          <a:effectLst>
            <a:outerShdw sx="100000" sy="100000" kx="0" ky="0" algn="bl" rotWithShape="0" blurRad="101600" dist="38100" dir="8100000">
              <a:srgbClr val="000000">
                <a:alpha val="20000"/>
              </a:srgbClr>
            </a:outerShdw>
          </a:effectLst>
        </p:spPr>
      </p:sp>
      <p:sp>
        <p:nvSpPr>
          <p:cNvPr id="5" name="Shape 3"/>
          <p:cNvSpPr/>
          <p:nvPr/>
        </p:nvSpPr>
        <p:spPr>
          <a:xfrm>
            <a:off x="548640" y="1097280"/>
            <a:ext cx="54864" cy="1051560"/>
          </a:xfrm>
          <a:prstGeom prst="rect">
            <a:avLst/>
          </a:prstGeom>
          <a:solidFill>
            <a:srgbClr val="059669"/>
          </a:solidFill>
          <a:ln/>
        </p:spPr>
      </p:sp>
      <p:sp>
        <p:nvSpPr>
          <p:cNvPr id="6" name="Text 4"/>
          <p:cNvSpPr/>
          <p:nvPr/>
        </p:nvSpPr>
        <p:spPr>
          <a:xfrm>
            <a:off x="777240" y="1188720"/>
            <a:ext cx="3566160" cy="320040"/>
          </a:xfrm>
          <a:prstGeom prst="rect">
            <a:avLst/>
          </a:prstGeom>
          <a:noFill/>
          <a:ln/>
        </p:spPr>
        <p:txBody>
          <a:bodyPr wrap="square" lIns="0" tIns="0" rIns="0" bIns="0" rtlCol="0" anchor="ctr"/>
          <a:lstStyle/>
          <a:p>
            <a:pPr indent="0" marL="0">
              <a:buNone/>
            </a:pPr>
            <a:r>
              <a:rPr lang="en-US" sz="1300" b="1" dirty="0">
                <a:solidFill>
                  <a:srgbClr val="1A2744"/>
                </a:solidFill>
                <a:latin typeface="Calibri" pitchFamily="34" charset="0"/>
                <a:ea typeface="Calibri" pitchFamily="34" charset="-122"/>
                <a:cs typeface="Calibri" pitchFamily="34" charset="-120"/>
              </a:rPr>
              <a:t>Micro-entreprise</a:t>
            </a:r>
            <a:endParaRPr lang="en-US" sz="1300" dirty="0"/>
          </a:p>
        </p:txBody>
      </p:sp>
      <p:sp>
        <p:nvSpPr>
          <p:cNvPr id="7" name="Text 5"/>
          <p:cNvSpPr/>
          <p:nvPr/>
        </p:nvSpPr>
        <p:spPr>
          <a:xfrm>
            <a:off x="777240" y="1554480"/>
            <a:ext cx="3566160" cy="50292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Risque financier quasi nul. Pas de capital. Pas de dette. France Travail en parallele.</a:t>
            </a:r>
            <a:endParaRPr lang="en-US" sz="1000" dirty="0"/>
          </a:p>
        </p:txBody>
      </p:sp>
      <p:sp>
        <p:nvSpPr>
          <p:cNvPr id="8" name="Shape 6"/>
          <p:cNvSpPr/>
          <p:nvPr/>
        </p:nvSpPr>
        <p:spPr>
          <a:xfrm>
            <a:off x="548640" y="2331720"/>
            <a:ext cx="4023360" cy="1051560"/>
          </a:xfrm>
          <a:prstGeom prst="rect">
            <a:avLst/>
          </a:prstGeom>
          <a:solidFill>
            <a:srgbClr val="FFFFFF"/>
          </a:solidFill>
          <a:ln/>
          <a:effectLst>
            <a:outerShdw sx="100000" sy="100000" kx="0" ky="0" algn="bl" rotWithShape="0" blurRad="101600" dist="38100" dir="8100000">
              <a:srgbClr val="000000">
                <a:alpha val="20000"/>
              </a:srgbClr>
            </a:outerShdw>
          </a:effectLst>
        </p:spPr>
      </p:sp>
      <p:sp>
        <p:nvSpPr>
          <p:cNvPr id="9" name="Shape 7"/>
          <p:cNvSpPr/>
          <p:nvPr/>
        </p:nvSpPr>
        <p:spPr>
          <a:xfrm>
            <a:off x="548640" y="2331720"/>
            <a:ext cx="54864" cy="1051560"/>
          </a:xfrm>
          <a:prstGeom prst="rect">
            <a:avLst/>
          </a:prstGeom>
          <a:solidFill>
            <a:srgbClr val="2563EB"/>
          </a:solidFill>
          <a:ln/>
        </p:spPr>
      </p:sp>
      <p:sp>
        <p:nvSpPr>
          <p:cNvPr id="10" name="Text 8"/>
          <p:cNvSpPr/>
          <p:nvPr/>
        </p:nvSpPr>
        <p:spPr>
          <a:xfrm>
            <a:off x="777240" y="2423160"/>
            <a:ext cx="3566160" cy="320040"/>
          </a:xfrm>
          <a:prstGeom prst="rect">
            <a:avLst/>
          </a:prstGeom>
          <a:noFill/>
          <a:ln/>
        </p:spPr>
        <p:txBody>
          <a:bodyPr wrap="square" lIns="0" tIns="0" rIns="0" bIns="0" rtlCol="0" anchor="ctr"/>
          <a:lstStyle/>
          <a:p>
            <a:pPr indent="0" marL="0">
              <a:buNone/>
            </a:pPr>
            <a:r>
              <a:rPr lang="en-US" sz="1300" b="1" dirty="0">
                <a:solidFill>
                  <a:srgbClr val="1A2744"/>
                </a:solidFill>
                <a:latin typeface="Calibri" pitchFamily="34" charset="0"/>
                <a:ea typeface="Calibri" pitchFamily="34" charset="-122"/>
                <a:cs typeface="Calibri" pitchFamily="34" charset="-120"/>
              </a:rPr>
              <a:t>ACRE obtenu</a:t>
            </a:r>
            <a:endParaRPr lang="en-US" sz="1300" dirty="0"/>
          </a:p>
        </p:txBody>
      </p:sp>
      <p:sp>
        <p:nvSpPr>
          <p:cNvPr id="11" name="Text 9"/>
          <p:cNvSpPr/>
          <p:nvPr/>
        </p:nvSpPr>
        <p:spPr>
          <a:xfrm>
            <a:off x="777240" y="2788920"/>
            <a:ext cx="3566160" cy="50292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Cotisations reduites de 50% la 1ere annee. Plus de marge pour reinvestir.</a:t>
            </a:r>
            <a:endParaRPr lang="en-US" sz="1000" dirty="0"/>
          </a:p>
        </p:txBody>
      </p:sp>
      <p:sp>
        <p:nvSpPr>
          <p:cNvPr id="12" name="Shape 10"/>
          <p:cNvSpPr/>
          <p:nvPr/>
        </p:nvSpPr>
        <p:spPr>
          <a:xfrm>
            <a:off x="548640" y="3566160"/>
            <a:ext cx="4023360" cy="1051560"/>
          </a:xfrm>
          <a:prstGeom prst="rect">
            <a:avLst/>
          </a:prstGeom>
          <a:solidFill>
            <a:srgbClr val="FFFFFF"/>
          </a:solidFill>
          <a:ln/>
          <a:effectLst>
            <a:outerShdw sx="100000" sy="100000" kx="0" ky="0" algn="bl" rotWithShape="0" blurRad="101600" dist="38100" dir="8100000">
              <a:srgbClr val="000000">
                <a:alpha val="20000"/>
              </a:srgbClr>
            </a:outerShdw>
          </a:effectLst>
        </p:spPr>
      </p:sp>
      <p:sp>
        <p:nvSpPr>
          <p:cNvPr id="13" name="Shape 11"/>
          <p:cNvSpPr/>
          <p:nvPr/>
        </p:nvSpPr>
        <p:spPr>
          <a:xfrm>
            <a:off x="548640" y="3566160"/>
            <a:ext cx="54864" cy="1051560"/>
          </a:xfrm>
          <a:prstGeom prst="rect">
            <a:avLst/>
          </a:prstGeom>
          <a:solidFill>
            <a:srgbClr val="D4A017"/>
          </a:solidFill>
          <a:ln/>
        </p:spPr>
      </p:sp>
      <p:sp>
        <p:nvSpPr>
          <p:cNvPr id="14" name="Text 12"/>
          <p:cNvSpPr/>
          <p:nvPr/>
        </p:nvSpPr>
        <p:spPr>
          <a:xfrm>
            <a:off x="777240" y="3657600"/>
            <a:ext cx="3566160" cy="320040"/>
          </a:xfrm>
          <a:prstGeom prst="rect">
            <a:avLst/>
          </a:prstGeom>
          <a:noFill/>
          <a:ln/>
        </p:spPr>
        <p:txBody>
          <a:bodyPr wrap="square" lIns="0" tIns="0" rIns="0" bIns="0" rtlCol="0" anchor="ctr"/>
          <a:lstStyle/>
          <a:p>
            <a:pPr indent="0" marL="0">
              <a:buNone/>
            </a:pPr>
            <a:r>
              <a:rPr lang="en-US" sz="1300" b="1" dirty="0">
                <a:solidFill>
                  <a:srgbClr val="1A2744"/>
                </a:solidFill>
                <a:latin typeface="Calibri" pitchFamily="34" charset="0"/>
                <a:ea typeface="Calibri" pitchFamily="34" charset="-122"/>
                <a:cs typeface="Calibri" pitchFamily="34" charset="-120"/>
              </a:rPr>
              <a:t>Fiscalite DOM</a:t>
            </a:r>
            <a:endParaRPr lang="en-US" sz="1300" dirty="0"/>
          </a:p>
        </p:txBody>
      </p:sp>
      <p:sp>
        <p:nvSpPr>
          <p:cNvPr id="15" name="Text 13"/>
          <p:cNvSpPr/>
          <p:nvPr/>
        </p:nvSpPr>
        <p:spPr>
          <a:xfrm>
            <a:off x="777240" y="4023360"/>
            <a:ext cx="3566160" cy="50292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ZFANG: 50-80% d'abattement IS. TVA 8.5% au lieu de 20%. Economies 15-25% vs metropole.</a:t>
            </a:r>
            <a:endParaRPr lang="en-US" sz="1000" dirty="0"/>
          </a:p>
        </p:txBody>
      </p:sp>
      <p:sp>
        <p:nvSpPr>
          <p:cNvPr id="16" name="Shape 14"/>
          <p:cNvSpPr/>
          <p:nvPr/>
        </p:nvSpPr>
        <p:spPr>
          <a:xfrm>
            <a:off x="4937760" y="1097280"/>
            <a:ext cx="4023360" cy="1051560"/>
          </a:xfrm>
          <a:prstGeom prst="rect">
            <a:avLst/>
          </a:prstGeom>
          <a:solidFill>
            <a:srgbClr val="FFFFFF"/>
          </a:solidFill>
          <a:ln/>
          <a:effectLst>
            <a:outerShdw sx="100000" sy="100000" kx="0" ky="0" algn="bl" rotWithShape="0" blurRad="101600" dist="38100" dir="8100000">
              <a:srgbClr val="000000">
                <a:alpha val="20000"/>
              </a:srgbClr>
            </a:outerShdw>
          </a:effectLst>
        </p:spPr>
      </p:sp>
      <p:sp>
        <p:nvSpPr>
          <p:cNvPr id="17" name="Shape 15"/>
          <p:cNvSpPr/>
          <p:nvPr/>
        </p:nvSpPr>
        <p:spPr>
          <a:xfrm>
            <a:off x="4937760" y="1097280"/>
            <a:ext cx="54864" cy="1051560"/>
          </a:xfrm>
          <a:prstGeom prst="rect">
            <a:avLst/>
          </a:prstGeom>
          <a:solidFill>
            <a:srgbClr val="F97316"/>
          </a:solidFill>
          <a:ln/>
        </p:spPr>
      </p:sp>
      <p:sp>
        <p:nvSpPr>
          <p:cNvPr id="18" name="Text 16"/>
          <p:cNvSpPr/>
          <p:nvPr/>
        </p:nvSpPr>
        <p:spPr>
          <a:xfrm>
            <a:off x="5166360" y="1188720"/>
            <a:ext cx="3566160" cy="320040"/>
          </a:xfrm>
          <a:prstGeom prst="rect">
            <a:avLst/>
          </a:prstGeom>
          <a:noFill/>
          <a:ln/>
        </p:spPr>
        <p:txBody>
          <a:bodyPr wrap="square" lIns="0" tIns="0" rIns="0" bIns="0" rtlCol="0" anchor="ctr"/>
          <a:lstStyle/>
          <a:p>
            <a:pPr indent="0" marL="0">
              <a:buNone/>
            </a:pPr>
            <a:r>
              <a:rPr lang="en-US" sz="1300" b="1" dirty="0">
                <a:solidFill>
                  <a:srgbClr val="1A2744"/>
                </a:solidFill>
                <a:latin typeface="Calibri" pitchFamily="34" charset="0"/>
                <a:ea typeface="Calibri" pitchFamily="34" charset="-122"/>
                <a:cs typeface="Calibri" pitchFamily="34" charset="-120"/>
              </a:rPr>
              <a:t>Diplome EPFL</a:t>
            </a:r>
            <a:endParaRPr lang="en-US" sz="1300" dirty="0"/>
          </a:p>
        </p:txBody>
      </p:sp>
      <p:sp>
        <p:nvSpPr>
          <p:cNvPr id="19" name="Text 17"/>
          <p:cNvSpPr/>
          <p:nvPr/>
        </p:nvSpPr>
        <p:spPr>
          <a:xfrm>
            <a:off x="5166360" y="1554480"/>
            <a:ext cx="3566160" cy="50292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Barriere a l'entree: aucun concurrent ne peut reproduire cette credibilite en Guadeloupe.</a:t>
            </a:r>
            <a:endParaRPr lang="en-US" sz="1000" dirty="0"/>
          </a:p>
        </p:txBody>
      </p:sp>
      <p:sp>
        <p:nvSpPr>
          <p:cNvPr id="20" name="Shape 18"/>
          <p:cNvSpPr/>
          <p:nvPr/>
        </p:nvSpPr>
        <p:spPr>
          <a:xfrm>
            <a:off x="4937760" y="2331720"/>
            <a:ext cx="4023360" cy="1051560"/>
          </a:xfrm>
          <a:prstGeom prst="rect">
            <a:avLst/>
          </a:prstGeom>
          <a:solidFill>
            <a:srgbClr val="FFFFFF"/>
          </a:solidFill>
          <a:ln/>
          <a:effectLst>
            <a:outerShdw sx="100000" sy="100000" kx="0" ky="0" algn="bl" rotWithShape="0" blurRad="101600" dist="38100" dir="8100000">
              <a:srgbClr val="000000">
                <a:alpha val="20000"/>
              </a:srgbClr>
            </a:outerShdw>
          </a:effectLst>
        </p:spPr>
      </p:sp>
      <p:sp>
        <p:nvSpPr>
          <p:cNvPr id="21" name="Shape 19"/>
          <p:cNvSpPr/>
          <p:nvPr/>
        </p:nvSpPr>
        <p:spPr>
          <a:xfrm>
            <a:off x="4937760" y="2331720"/>
            <a:ext cx="54864" cy="1051560"/>
          </a:xfrm>
          <a:prstGeom prst="rect">
            <a:avLst/>
          </a:prstGeom>
          <a:solidFill>
            <a:srgbClr val="1A2744"/>
          </a:solidFill>
          <a:ln/>
        </p:spPr>
      </p:sp>
      <p:sp>
        <p:nvSpPr>
          <p:cNvPr id="22" name="Text 20"/>
          <p:cNvSpPr/>
          <p:nvPr/>
        </p:nvSpPr>
        <p:spPr>
          <a:xfrm>
            <a:off x="5166360" y="2423160"/>
            <a:ext cx="3566160" cy="320040"/>
          </a:xfrm>
          <a:prstGeom prst="rect">
            <a:avLst/>
          </a:prstGeom>
          <a:noFill/>
          <a:ln/>
        </p:spPr>
        <p:txBody>
          <a:bodyPr wrap="square" lIns="0" tIns="0" rIns="0" bIns="0" rtlCol="0" anchor="ctr"/>
          <a:lstStyle/>
          <a:p>
            <a:pPr indent="0" marL="0">
              <a:buNone/>
            </a:pPr>
            <a:r>
              <a:rPr lang="en-US" sz="1300" b="1" dirty="0">
                <a:solidFill>
                  <a:srgbClr val="1A2744"/>
                </a:solidFill>
                <a:latin typeface="Calibri" pitchFamily="34" charset="0"/>
                <a:ea typeface="Calibri" pitchFamily="34" charset="-122"/>
                <a:cs typeface="Calibri" pitchFamily="34" charset="-120"/>
              </a:rPr>
              <a:t>IA &amp; automatisation</a:t>
            </a:r>
            <a:endParaRPr lang="en-US" sz="1300" dirty="0"/>
          </a:p>
        </p:txBody>
      </p:sp>
      <p:sp>
        <p:nvSpPr>
          <p:cNvPr id="23" name="Text 21"/>
          <p:cNvSpPr/>
          <p:nvPr/>
        </p:nvSpPr>
        <p:spPr>
          <a:xfrm>
            <a:off x="5166360" y="2788920"/>
            <a:ext cx="3566160" cy="50292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Rapport KCI en 30 min au lieu de 3h. Articles blog assistes. Topo3D 100% automatise.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indent="0" marL="0">
              <a:buNone/>
            </a:pPr>
            <a:r>
              <a:rPr lang="en-US" sz="2400" b="1" dirty="0">
                <a:solidFill>
                  <a:srgbClr val="1A2744"/>
                </a:solidFill>
                <a:latin typeface="Georgia" pitchFamily="34" charset="0"/>
                <a:ea typeface="Georgia" pitchFamily="34" charset="-122"/>
                <a:cs typeface="Georgia" pitchFamily="34" charset="-120"/>
              </a:rPr>
              <a:t>Le calendrier — etape par etape</a:t>
            </a:r>
            <a:endParaRPr lang="en-US" sz="2400" dirty="0"/>
          </a:p>
        </p:txBody>
      </p:sp>
      <p:sp>
        <p:nvSpPr>
          <p:cNvPr id="3" name="Shape 1"/>
          <p:cNvSpPr/>
          <p:nvPr/>
        </p:nvSpPr>
        <p:spPr>
          <a:xfrm>
            <a:off x="548640" y="868680"/>
            <a:ext cx="1371600" cy="36576"/>
          </a:xfrm>
          <a:prstGeom prst="rect">
            <a:avLst/>
          </a:prstGeom>
          <a:solidFill>
            <a:srgbClr val="D4A017"/>
          </a:solidFill>
          <a:ln/>
        </p:spPr>
      </p:sp>
      <p:sp>
        <p:nvSpPr>
          <p:cNvPr id="4" name="Shape 2"/>
          <p:cNvSpPr/>
          <p:nvPr/>
        </p:nvSpPr>
        <p:spPr>
          <a:xfrm>
            <a:off x="731520" y="2560320"/>
            <a:ext cx="7680960" cy="0"/>
          </a:xfrm>
          <a:prstGeom prst="line">
            <a:avLst/>
          </a:prstGeom>
          <a:noFill/>
          <a:ln w="25400">
            <a:solidFill>
              <a:srgbClr val="1A2744"/>
            </a:solidFill>
            <a:prstDash val="solid"/>
          </a:ln>
        </p:spPr>
      </p:sp>
      <p:sp>
        <p:nvSpPr>
          <p:cNvPr id="5" name="Shape 3"/>
          <p:cNvSpPr/>
          <p:nvPr/>
        </p:nvSpPr>
        <p:spPr>
          <a:xfrm>
            <a:off x="1508760" y="2377440"/>
            <a:ext cx="365760" cy="365760"/>
          </a:xfrm>
          <a:prstGeom prst="ellipse">
            <a:avLst/>
          </a:prstGeom>
          <a:solidFill>
            <a:srgbClr val="2563EB"/>
          </a:solidFill>
          <a:ln/>
        </p:spPr>
      </p:sp>
      <p:sp>
        <p:nvSpPr>
          <p:cNvPr id="6" name="Text 4"/>
          <p:cNvSpPr/>
          <p:nvPr/>
        </p:nvSpPr>
        <p:spPr>
          <a:xfrm>
            <a:off x="731520" y="1280160"/>
            <a:ext cx="1920240" cy="64008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Mars-Juin</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2026</a:t>
            </a:r>
            <a:endParaRPr lang="en-US" sz="1000" dirty="0"/>
          </a:p>
        </p:txBody>
      </p:sp>
      <p:sp>
        <p:nvSpPr>
          <p:cNvPr id="7" name="Text 5"/>
          <p:cNvSpPr/>
          <p:nvPr/>
        </p:nvSpPr>
        <p:spPr>
          <a:xfrm>
            <a:off x="731520" y="1920240"/>
            <a:ext cx="1920240" cy="320040"/>
          </a:xfrm>
          <a:prstGeom prst="rect">
            <a:avLst/>
          </a:prstGeom>
          <a:noFill/>
          <a:ln/>
        </p:spPr>
        <p:txBody>
          <a:bodyPr wrap="square" lIns="0" tIns="0" rIns="0" bIns="0" rtlCol="0" anchor="ctr"/>
          <a:lstStyle/>
          <a:p>
            <a:pPr algn="ctr" indent="0" marL="0">
              <a:buNone/>
            </a:pPr>
            <a:r>
              <a:rPr lang="en-US" sz="1300" b="1" dirty="0">
                <a:solidFill>
                  <a:srgbClr val="2563EB"/>
                </a:solidFill>
                <a:latin typeface="Georgia" pitchFamily="34" charset="0"/>
                <a:ea typeface="Georgia" pitchFamily="34" charset="-122"/>
                <a:cs typeface="Georgia" pitchFamily="34" charset="-120"/>
              </a:rPr>
              <a:t>Lancement</a:t>
            </a:r>
            <a:endParaRPr lang="en-US" sz="1300" dirty="0"/>
          </a:p>
        </p:txBody>
      </p:sp>
      <p:sp>
        <p:nvSpPr>
          <p:cNvPr id="8" name="Shape 6"/>
          <p:cNvSpPr/>
          <p:nvPr/>
        </p:nvSpPr>
        <p:spPr>
          <a:xfrm>
            <a:off x="731520" y="2926080"/>
            <a:ext cx="1920240" cy="914400"/>
          </a:xfrm>
          <a:prstGeom prst="rect">
            <a:avLst/>
          </a:prstGeom>
          <a:solidFill>
            <a:srgbClr val="FFFFFF"/>
          </a:solidFill>
          <a:ln/>
          <a:effectLst>
            <a:outerShdw sx="100000" sy="100000" kx="0" ky="0" algn="bl" rotWithShape="0" blurRad="101600" dist="38100" dir="8100000">
              <a:srgbClr val="000000">
                <a:alpha val="20000"/>
              </a:srgbClr>
            </a:outerShdw>
          </a:effectLst>
        </p:spPr>
      </p:sp>
      <p:sp>
        <p:nvSpPr>
          <p:cNvPr id="9" name="Shape 7"/>
          <p:cNvSpPr/>
          <p:nvPr/>
        </p:nvSpPr>
        <p:spPr>
          <a:xfrm>
            <a:off x="731520" y="2926080"/>
            <a:ext cx="1920240" cy="36576"/>
          </a:xfrm>
          <a:prstGeom prst="rect">
            <a:avLst/>
          </a:prstGeom>
          <a:solidFill>
            <a:srgbClr val="2563EB"/>
          </a:solidFill>
          <a:ln/>
        </p:spPr>
      </p:sp>
      <p:sp>
        <p:nvSpPr>
          <p:cNvPr id="10" name="Text 8"/>
          <p:cNvSpPr/>
          <p:nvPr/>
        </p:nvSpPr>
        <p:spPr>
          <a:xfrm>
            <a:off x="868680" y="3063240"/>
            <a:ext cx="1645920" cy="685800"/>
          </a:xfrm>
          <a:prstGeom prst="rect">
            <a:avLst/>
          </a:prstGeom>
          <a:no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Premier euro</a:t>
            </a:r>
            <a:endParaRPr lang="en-US" sz="1000" dirty="0"/>
          </a:p>
          <a:p>
            <a:pPr algn="ctr" indent="0" marL="0">
              <a:buNone/>
            </a:pPr>
            <a:r>
              <a:rPr lang="en-US" sz="1000" dirty="0">
                <a:solidFill>
                  <a:srgbClr val="334155"/>
                </a:solidFill>
                <a:latin typeface="Calibri" pitchFamily="34" charset="0"/>
                <a:ea typeface="Calibri" pitchFamily="34" charset="-122"/>
                <a:cs typeface="Calibri" pitchFamily="34" charset="-120"/>
              </a:rPr>
              <a:t>100 pros inscrits</a:t>
            </a:r>
            <a:endParaRPr lang="en-US" sz="1000" dirty="0"/>
          </a:p>
        </p:txBody>
      </p:sp>
      <p:sp>
        <p:nvSpPr>
          <p:cNvPr id="11" name="Shape 9"/>
          <p:cNvSpPr/>
          <p:nvPr/>
        </p:nvSpPr>
        <p:spPr>
          <a:xfrm>
            <a:off x="3611880" y="2377440"/>
            <a:ext cx="365760" cy="365760"/>
          </a:xfrm>
          <a:prstGeom prst="ellipse">
            <a:avLst/>
          </a:prstGeom>
          <a:solidFill>
            <a:srgbClr val="059669"/>
          </a:solidFill>
          <a:ln/>
        </p:spPr>
      </p:sp>
      <p:sp>
        <p:nvSpPr>
          <p:cNvPr id="12" name="Text 10"/>
          <p:cNvSpPr/>
          <p:nvPr/>
        </p:nvSpPr>
        <p:spPr>
          <a:xfrm>
            <a:off x="2834640" y="1280160"/>
            <a:ext cx="1920240" cy="64008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Juil-Sept</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2026</a:t>
            </a:r>
            <a:endParaRPr lang="en-US" sz="1000" dirty="0"/>
          </a:p>
        </p:txBody>
      </p:sp>
      <p:sp>
        <p:nvSpPr>
          <p:cNvPr id="13" name="Text 11"/>
          <p:cNvSpPr/>
          <p:nvPr/>
        </p:nvSpPr>
        <p:spPr>
          <a:xfrm>
            <a:off x="2834640" y="1920240"/>
            <a:ext cx="1920240" cy="320040"/>
          </a:xfrm>
          <a:prstGeom prst="rect">
            <a:avLst/>
          </a:prstGeom>
          <a:noFill/>
          <a:ln/>
        </p:spPr>
        <p:txBody>
          <a:bodyPr wrap="square" lIns="0" tIns="0" rIns="0" bIns="0" rtlCol="0" anchor="ctr"/>
          <a:lstStyle/>
          <a:p>
            <a:pPr algn="ctr" indent="0" marL="0">
              <a:buNone/>
            </a:pPr>
            <a:r>
              <a:rPr lang="en-US" sz="1300" b="1" dirty="0">
                <a:solidFill>
                  <a:srgbClr val="059669"/>
                </a:solidFill>
                <a:latin typeface="Georgia" pitchFamily="34" charset="0"/>
                <a:ea typeface="Georgia" pitchFamily="34" charset="-122"/>
                <a:cs typeface="Georgia" pitchFamily="34" charset="-120"/>
              </a:rPr>
              <a:t>Traction</a:t>
            </a:r>
            <a:endParaRPr lang="en-US" sz="1300" dirty="0"/>
          </a:p>
        </p:txBody>
      </p:sp>
      <p:sp>
        <p:nvSpPr>
          <p:cNvPr id="14" name="Shape 12"/>
          <p:cNvSpPr/>
          <p:nvPr/>
        </p:nvSpPr>
        <p:spPr>
          <a:xfrm>
            <a:off x="2834640" y="2926080"/>
            <a:ext cx="1920240" cy="914400"/>
          </a:xfrm>
          <a:prstGeom prst="rect">
            <a:avLst/>
          </a:prstGeom>
          <a:solidFill>
            <a:srgbClr val="FFFFFF"/>
          </a:solidFill>
          <a:ln/>
          <a:effectLst>
            <a:outerShdw sx="100000" sy="100000" kx="0" ky="0" algn="bl" rotWithShape="0" blurRad="101600" dist="38100" dir="8100000">
              <a:srgbClr val="000000">
                <a:alpha val="20000"/>
              </a:srgbClr>
            </a:outerShdw>
          </a:effectLst>
        </p:spPr>
      </p:sp>
      <p:sp>
        <p:nvSpPr>
          <p:cNvPr id="15" name="Shape 13"/>
          <p:cNvSpPr/>
          <p:nvPr/>
        </p:nvSpPr>
        <p:spPr>
          <a:xfrm>
            <a:off x="2834640" y="2926080"/>
            <a:ext cx="1920240" cy="36576"/>
          </a:xfrm>
          <a:prstGeom prst="rect">
            <a:avLst/>
          </a:prstGeom>
          <a:solidFill>
            <a:srgbClr val="059669"/>
          </a:solidFill>
          <a:ln/>
        </p:spPr>
      </p:sp>
      <p:sp>
        <p:nvSpPr>
          <p:cNvPr id="16" name="Text 14"/>
          <p:cNvSpPr/>
          <p:nvPr/>
        </p:nvSpPr>
        <p:spPr>
          <a:xfrm>
            <a:off x="2971800" y="3063240"/>
            <a:ext cx="1645920" cy="685800"/>
          </a:xfrm>
          <a:prstGeom prst="rect">
            <a:avLst/>
          </a:prstGeom>
          <a:no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Point de rentabilite</a:t>
            </a:r>
            <a:endParaRPr lang="en-US" sz="1000" dirty="0"/>
          </a:p>
          <a:p>
            <a:pPr algn="ctr" indent="0" marL="0">
              <a:buNone/>
            </a:pPr>
            <a:r>
              <a:rPr lang="en-US" sz="1000" dirty="0">
                <a:solidFill>
                  <a:srgbClr val="334155"/>
                </a:solidFill>
                <a:latin typeface="Calibri" pitchFamily="34" charset="0"/>
                <a:ea typeface="Calibri" pitchFamily="34" charset="-122"/>
                <a:cs typeface="Calibri" pitchFamily="34" charset="-120"/>
              </a:rPr>
              <a:t>3 200 EUR/mois</a:t>
            </a:r>
            <a:endParaRPr lang="en-US" sz="1000" dirty="0"/>
          </a:p>
        </p:txBody>
      </p:sp>
      <p:sp>
        <p:nvSpPr>
          <p:cNvPr id="17" name="Shape 15"/>
          <p:cNvSpPr/>
          <p:nvPr/>
        </p:nvSpPr>
        <p:spPr>
          <a:xfrm>
            <a:off x="5715000" y="2377440"/>
            <a:ext cx="365760" cy="365760"/>
          </a:xfrm>
          <a:prstGeom prst="ellipse">
            <a:avLst/>
          </a:prstGeom>
          <a:solidFill>
            <a:srgbClr val="D4A017"/>
          </a:solidFill>
          <a:ln/>
        </p:spPr>
      </p:sp>
      <p:sp>
        <p:nvSpPr>
          <p:cNvPr id="18" name="Text 16"/>
          <p:cNvSpPr/>
          <p:nvPr/>
        </p:nvSpPr>
        <p:spPr>
          <a:xfrm>
            <a:off x="4937760" y="1280160"/>
            <a:ext cx="1920240" cy="64008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Oct 2026</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Mars 2027</a:t>
            </a:r>
            <a:endParaRPr lang="en-US" sz="1000" dirty="0"/>
          </a:p>
        </p:txBody>
      </p:sp>
      <p:sp>
        <p:nvSpPr>
          <p:cNvPr id="19" name="Text 17"/>
          <p:cNvSpPr/>
          <p:nvPr/>
        </p:nvSpPr>
        <p:spPr>
          <a:xfrm>
            <a:off x="4937760" y="1920240"/>
            <a:ext cx="1920240" cy="320040"/>
          </a:xfrm>
          <a:prstGeom prst="rect">
            <a:avLst/>
          </a:prstGeom>
          <a:noFill/>
          <a:ln/>
        </p:spPr>
        <p:txBody>
          <a:bodyPr wrap="square" lIns="0" tIns="0" rIns="0" bIns="0" rtlCol="0" anchor="ctr"/>
          <a:lstStyle/>
          <a:p>
            <a:pPr algn="ctr" indent="0" marL="0">
              <a:buNone/>
            </a:pPr>
            <a:r>
              <a:rPr lang="en-US" sz="1300" b="1" dirty="0">
                <a:solidFill>
                  <a:srgbClr val="D4A017"/>
                </a:solidFill>
                <a:latin typeface="Georgia" pitchFamily="34" charset="0"/>
                <a:ea typeface="Georgia" pitchFamily="34" charset="-122"/>
                <a:cs typeface="Georgia" pitchFamily="34" charset="-120"/>
              </a:rPr>
              <a:t>Croissance</a:t>
            </a:r>
            <a:endParaRPr lang="en-US" sz="1300" dirty="0"/>
          </a:p>
        </p:txBody>
      </p:sp>
      <p:sp>
        <p:nvSpPr>
          <p:cNvPr id="20" name="Shape 18"/>
          <p:cNvSpPr/>
          <p:nvPr/>
        </p:nvSpPr>
        <p:spPr>
          <a:xfrm>
            <a:off x="4937760" y="2926080"/>
            <a:ext cx="1920240" cy="914400"/>
          </a:xfrm>
          <a:prstGeom prst="rect">
            <a:avLst/>
          </a:prstGeom>
          <a:solidFill>
            <a:srgbClr val="FFFFFF"/>
          </a:solidFill>
          <a:ln/>
          <a:effectLst>
            <a:outerShdw sx="100000" sy="100000" kx="0" ky="0" algn="bl" rotWithShape="0" blurRad="101600" dist="38100" dir="8100000">
              <a:srgbClr val="000000">
                <a:alpha val="20000"/>
              </a:srgbClr>
            </a:outerShdw>
          </a:effectLst>
        </p:spPr>
      </p:sp>
      <p:sp>
        <p:nvSpPr>
          <p:cNvPr id="21" name="Shape 19"/>
          <p:cNvSpPr/>
          <p:nvPr/>
        </p:nvSpPr>
        <p:spPr>
          <a:xfrm>
            <a:off x="4937760" y="2926080"/>
            <a:ext cx="1920240" cy="36576"/>
          </a:xfrm>
          <a:prstGeom prst="rect">
            <a:avLst/>
          </a:prstGeom>
          <a:solidFill>
            <a:srgbClr val="D4A017"/>
          </a:solidFill>
          <a:ln/>
        </p:spPr>
      </p:sp>
      <p:sp>
        <p:nvSpPr>
          <p:cNvPr id="22" name="Text 20"/>
          <p:cNvSpPr/>
          <p:nvPr/>
        </p:nvSpPr>
        <p:spPr>
          <a:xfrm>
            <a:off x="5074920" y="3063240"/>
            <a:ext cx="1645920" cy="685800"/>
          </a:xfrm>
          <a:prstGeom prst="rect">
            <a:avLst/>
          </a:prstGeom>
          <a:no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Expansion Martinique</a:t>
            </a:r>
            <a:endParaRPr lang="en-US" sz="1000" dirty="0"/>
          </a:p>
          <a:p>
            <a:pPr algn="ctr" indent="0" marL="0">
              <a:buNone/>
            </a:pPr>
            <a:r>
              <a:rPr lang="en-US" sz="1000" dirty="0">
                <a:solidFill>
                  <a:srgbClr val="334155"/>
                </a:solidFill>
                <a:latin typeface="Calibri" pitchFamily="34" charset="0"/>
                <a:ea typeface="Calibri" pitchFamily="34" charset="-122"/>
                <a:cs typeface="Calibri" pitchFamily="34" charset="-120"/>
              </a:rPr>
              <a:t>5 000+ EUR/mois</a:t>
            </a:r>
            <a:endParaRPr lang="en-US" sz="1000" dirty="0"/>
          </a:p>
        </p:txBody>
      </p:sp>
      <p:sp>
        <p:nvSpPr>
          <p:cNvPr id="23" name="Shape 21"/>
          <p:cNvSpPr/>
          <p:nvPr/>
        </p:nvSpPr>
        <p:spPr>
          <a:xfrm>
            <a:off x="7818120" y="2377440"/>
            <a:ext cx="365760" cy="365760"/>
          </a:xfrm>
          <a:prstGeom prst="ellipse">
            <a:avLst/>
          </a:prstGeom>
          <a:solidFill>
            <a:srgbClr val="F97316"/>
          </a:solidFill>
          <a:ln/>
        </p:spPr>
      </p:sp>
      <p:sp>
        <p:nvSpPr>
          <p:cNvPr id="24" name="Text 22"/>
          <p:cNvSpPr/>
          <p:nvPr/>
        </p:nvSpPr>
        <p:spPr>
          <a:xfrm>
            <a:off x="7040880" y="1280160"/>
            <a:ext cx="1920240" cy="64008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2027</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2028</a:t>
            </a:r>
            <a:endParaRPr lang="en-US" sz="1000" dirty="0"/>
          </a:p>
        </p:txBody>
      </p:sp>
      <p:sp>
        <p:nvSpPr>
          <p:cNvPr id="25" name="Text 23"/>
          <p:cNvSpPr/>
          <p:nvPr/>
        </p:nvSpPr>
        <p:spPr>
          <a:xfrm>
            <a:off x="7040880" y="1920240"/>
            <a:ext cx="1920240" cy="320040"/>
          </a:xfrm>
          <a:prstGeom prst="rect">
            <a:avLst/>
          </a:prstGeom>
          <a:noFill/>
          <a:ln/>
        </p:spPr>
        <p:txBody>
          <a:bodyPr wrap="square" lIns="0" tIns="0" rIns="0" bIns="0" rtlCol="0" anchor="ctr"/>
          <a:lstStyle/>
          <a:p>
            <a:pPr algn="ctr" indent="0" marL="0">
              <a:buNone/>
            </a:pPr>
            <a:r>
              <a:rPr lang="en-US" sz="1300" b="1" dirty="0">
                <a:solidFill>
                  <a:srgbClr val="F97316"/>
                </a:solidFill>
                <a:latin typeface="Georgia" pitchFamily="34" charset="0"/>
                <a:ea typeface="Georgia" pitchFamily="34" charset="-122"/>
                <a:cs typeface="Georgia" pitchFamily="34" charset="-120"/>
              </a:rPr>
              <a:t>Scale</a:t>
            </a:r>
            <a:endParaRPr lang="en-US" sz="1300" dirty="0"/>
          </a:p>
        </p:txBody>
      </p:sp>
      <p:sp>
        <p:nvSpPr>
          <p:cNvPr id="26" name="Shape 24"/>
          <p:cNvSpPr/>
          <p:nvPr/>
        </p:nvSpPr>
        <p:spPr>
          <a:xfrm>
            <a:off x="7040880" y="2926080"/>
            <a:ext cx="1920240" cy="914400"/>
          </a:xfrm>
          <a:prstGeom prst="rect">
            <a:avLst/>
          </a:prstGeom>
          <a:solidFill>
            <a:srgbClr val="FFFFFF"/>
          </a:solidFill>
          <a:ln/>
          <a:effectLst>
            <a:outerShdw sx="100000" sy="100000" kx="0" ky="0" algn="bl" rotWithShape="0" blurRad="101600" dist="38100" dir="8100000">
              <a:srgbClr val="000000">
                <a:alpha val="20000"/>
              </a:srgbClr>
            </a:outerShdw>
          </a:effectLst>
        </p:spPr>
      </p:sp>
      <p:sp>
        <p:nvSpPr>
          <p:cNvPr id="27" name="Shape 25"/>
          <p:cNvSpPr/>
          <p:nvPr/>
        </p:nvSpPr>
        <p:spPr>
          <a:xfrm>
            <a:off x="7040880" y="2926080"/>
            <a:ext cx="1920240" cy="36576"/>
          </a:xfrm>
          <a:prstGeom prst="rect">
            <a:avLst/>
          </a:prstGeom>
          <a:solidFill>
            <a:srgbClr val="F97316"/>
          </a:solidFill>
          <a:ln/>
        </p:spPr>
      </p:sp>
      <p:sp>
        <p:nvSpPr>
          <p:cNvPr id="28" name="Text 26"/>
          <p:cNvSpPr/>
          <p:nvPr/>
        </p:nvSpPr>
        <p:spPr>
          <a:xfrm>
            <a:off x="7178040" y="3063240"/>
            <a:ext cx="1645920" cy="685800"/>
          </a:xfrm>
          <a:prstGeom prst="rect">
            <a:avLst/>
          </a:prstGeom>
          <a:no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3 DOM couverts</a:t>
            </a:r>
            <a:endParaRPr lang="en-US" sz="1000" dirty="0"/>
          </a:p>
          <a:p>
            <a:pPr algn="ctr" indent="0" marL="0">
              <a:buNone/>
            </a:pPr>
            <a:r>
              <a:rPr lang="en-US" sz="1000" dirty="0">
                <a:solidFill>
                  <a:srgbClr val="334155"/>
                </a:solidFill>
                <a:latin typeface="Calibri" pitchFamily="34" charset="0"/>
                <a:ea typeface="Calibri" pitchFamily="34" charset="-122"/>
                <a:cs typeface="Calibri" pitchFamily="34" charset="-120"/>
              </a:rPr>
              <a:t>20K+ EUR/mois</a:t>
            </a:r>
            <a:endParaRPr lang="en-US" sz="1000" dirty="0"/>
          </a:p>
        </p:txBody>
      </p:sp>
      <p:sp>
        <p:nvSpPr>
          <p:cNvPr id="29" name="Text 27"/>
          <p:cNvSpPr/>
          <p:nvPr/>
        </p:nvSpPr>
        <p:spPr>
          <a:xfrm>
            <a:off x="548640" y="4206240"/>
            <a:ext cx="8046720" cy="731520"/>
          </a:xfrm>
          <a:prstGeom prst="rect">
            <a:avLst/>
          </a:prstGeom>
          <a:noFill/>
          <a:ln/>
        </p:spPr>
        <p:txBody>
          <a:bodyPr wrap="square" lIns="0" tIns="0" rIns="0" bIns="0" rtlCol="0" anchor="ctr"/>
          <a:lstStyle/>
          <a:p>
            <a:pPr algn="ctr" indent="0" marL="0">
              <a:buNone/>
            </a:pPr>
            <a:r>
              <a:rPr lang="en-US" sz="1100" i="1" dirty="0">
                <a:solidFill>
                  <a:srgbClr val="1A2744"/>
                </a:solidFill>
                <a:latin typeface="Calibri" pitchFamily="34" charset="0"/>
                <a:ea typeface="Calibri" pitchFamily="34" charset="-122"/>
                <a:cs typeface="Calibri" pitchFamily="34" charset="-120"/>
              </a:rPr>
              <a:t>Si les resultats ne sont pas au rendez-vous au mois 6, j'aurai perdu moins de 3 000 EUR et beaucoup appris.</a:t>
            </a:r>
            <a:endParaRPr lang="en-US" sz="1100" dirty="0"/>
          </a:p>
          <a:p>
            <a:pPr algn="ctr" indent="0" marL="0">
              <a:buNone/>
            </a:pPr>
            <a:r>
              <a:rPr lang="en-US" sz="1100" i="1" dirty="0">
                <a:solidFill>
                  <a:srgbClr val="1A2744"/>
                </a:solidFill>
                <a:latin typeface="Calibri" pitchFamily="34" charset="0"/>
                <a:ea typeface="Calibri" pitchFamily="34" charset="-122"/>
                <a:cs typeface="Calibri" pitchFamily="34" charset="-120"/>
              </a:rPr>
              <a:t>Si ca marche, j'aurai pose les bases d'une entreprise solide.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017"/>
          </a:solidFill>
          <a:ln/>
        </p:spPr>
      </p:sp>
      <p:sp>
        <p:nvSpPr>
          <p:cNvPr id="3" name="Text 1"/>
          <p:cNvSpPr/>
          <p:nvPr/>
        </p:nvSpPr>
        <p:spPr>
          <a:xfrm>
            <a:off x="548640" y="365760"/>
            <a:ext cx="8046720" cy="54864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En resume</a:t>
            </a:r>
            <a:endParaRPr lang="en-US" sz="2800" dirty="0"/>
          </a:p>
        </p:txBody>
      </p:sp>
      <p:sp>
        <p:nvSpPr>
          <p:cNvPr id="4" name="Shape 2"/>
          <p:cNvSpPr/>
          <p:nvPr/>
        </p:nvSpPr>
        <p:spPr>
          <a:xfrm>
            <a:off x="548640" y="1188720"/>
            <a:ext cx="2606040" cy="1005840"/>
          </a:xfrm>
          <a:prstGeom prst="rect">
            <a:avLst/>
          </a:prstGeom>
          <a:solidFill>
            <a:srgbClr val="243352"/>
          </a:solidFill>
          <a:ln/>
        </p:spPr>
      </p:sp>
      <p:sp>
        <p:nvSpPr>
          <p:cNvPr id="5" name="Shape 3"/>
          <p:cNvSpPr/>
          <p:nvPr/>
        </p:nvSpPr>
        <p:spPr>
          <a:xfrm>
            <a:off x="548640" y="1188720"/>
            <a:ext cx="2606040" cy="36576"/>
          </a:xfrm>
          <a:prstGeom prst="rect">
            <a:avLst/>
          </a:prstGeom>
          <a:solidFill>
            <a:srgbClr val="059669"/>
          </a:solidFill>
          <a:ln/>
        </p:spPr>
      </p:sp>
      <p:sp>
        <p:nvSpPr>
          <p:cNvPr id="6" name="Text 4"/>
          <p:cNvSpPr/>
          <p:nvPr/>
        </p:nvSpPr>
        <p:spPr>
          <a:xfrm>
            <a:off x="731520" y="1280160"/>
            <a:ext cx="2240280" cy="3200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Investissement initial</a:t>
            </a:r>
            <a:endParaRPr lang="en-US" sz="1000" dirty="0"/>
          </a:p>
        </p:txBody>
      </p:sp>
      <p:sp>
        <p:nvSpPr>
          <p:cNvPr id="7" name="Text 5"/>
          <p:cNvSpPr/>
          <p:nvPr/>
        </p:nvSpPr>
        <p:spPr>
          <a:xfrm>
            <a:off x="731520" y="1645920"/>
            <a:ext cx="2240280" cy="41148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&lt; 3 000 EUR</a:t>
            </a:r>
            <a:endParaRPr lang="en-US" sz="1800" dirty="0"/>
          </a:p>
        </p:txBody>
      </p:sp>
      <p:sp>
        <p:nvSpPr>
          <p:cNvPr id="8" name="Shape 6"/>
          <p:cNvSpPr/>
          <p:nvPr/>
        </p:nvSpPr>
        <p:spPr>
          <a:xfrm>
            <a:off x="3383280" y="1188720"/>
            <a:ext cx="2606040" cy="1005840"/>
          </a:xfrm>
          <a:prstGeom prst="rect">
            <a:avLst/>
          </a:prstGeom>
          <a:solidFill>
            <a:srgbClr val="243352"/>
          </a:solidFill>
          <a:ln/>
        </p:spPr>
      </p:sp>
      <p:sp>
        <p:nvSpPr>
          <p:cNvPr id="9" name="Shape 7"/>
          <p:cNvSpPr/>
          <p:nvPr/>
        </p:nvSpPr>
        <p:spPr>
          <a:xfrm>
            <a:off x="3383280" y="1188720"/>
            <a:ext cx="2606040" cy="36576"/>
          </a:xfrm>
          <a:prstGeom prst="rect">
            <a:avLst/>
          </a:prstGeom>
          <a:solidFill>
            <a:srgbClr val="059669"/>
          </a:solidFill>
          <a:ln/>
        </p:spPr>
      </p:sp>
      <p:sp>
        <p:nvSpPr>
          <p:cNvPr id="10" name="Text 8"/>
          <p:cNvSpPr/>
          <p:nvPr/>
        </p:nvSpPr>
        <p:spPr>
          <a:xfrm>
            <a:off x="3566160" y="1280160"/>
            <a:ext cx="2240280" cy="3200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Risque financier</a:t>
            </a:r>
            <a:endParaRPr lang="en-US" sz="1000" dirty="0"/>
          </a:p>
        </p:txBody>
      </p:sp>
      <p:sp>
        <p:nvSpPr>
          <p:cNvPr id="11" name="Text 9"/>
          <p:cNvSpPr/>
          <p:nvPr/>
        </p:nvSpPr>
        <p:spPr>
          <a:xfrm>
            <a:off x="3566160" y="1645920"/>
            <a:ext cx="2240280" cy="41148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Tres faible</a:t>
            </a:r>
            <a:endParaRPr lang="en-US" sz="1800" dirty="0"/>
          </a:p>
        </p:txBody>
      </p:sp>
      <p:sp>
        <p:nvSpPr>
          <p:cNvPr id="12" name="Shape 10"/>
          <p:cNvSpPr/>
          <p:nvPr/>
        </p:nvSpPr>
        <p:spPr>
          <a:xfrm>
            <a:off x="6217920" y="1188720"/>
            <a:ext cx="2606040" cy="1005840"/>
          </a:xfrm>
          <a:prstGeom prst="rect">
            <a:avLst/>
          </a:prstGeom>
          <a:solidFill>
            <a:srgbClr val="243352"/>
          </a:solidFill>
          <a:ln/>
        </p:spPr>
      </p:sp>
      <p:sp>
        <p:nvSpPr>
          <p:cNvPr id="13" name="Shape 11"/>
          <p:cNvSpPr/>
          <p:nvPr/>
        </p:nvSpPr>
        <p:spPr>
          <a:xfrm>
            <a:off x="6217920" y="1188720"/>
            <a:ext cx="2606040" cy="36576"/>
          </a:xfrm>
          <a:prstGeom prst="rect">
            <a:avLst/>
          </a:prstGeom>
          <a:solidFill>
            <a:srgbClr val="D4A017"/>
          </a:solidFill>
          <a:ln/>
        </p:spPr>
      </p:sp>
      <p:sp>
        <p:nvSpPr>
          <p:cNvPr id="14" name="Text 12"/>
          <p:cNvSpPr/>
          <p:nvPr/>
        </p:nvSpPr>
        <p:spPr>
          <a:xfrm>
            <a:off x="6400800" y="1280160"/>
            <a:ext cx="2240280" cy="3200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Premiere rentabilite</a:t>
            </a:r>
            <a:endParaRPr lang="en-US" sz="1000" dirty="0"/>
          </a:p>
        </p:txBody>
      </p:sp>
      <p:sp>
        <p:nvSpPr>
          <p:cNvPr id="15" name="Text 13"/>
          <p:cNvSpPr/>
          <p:nvPr/>
        </p:nvSpPr>
        <p:spPr>
          <a:xfrm>
            <a:off x="6400800" y="1645920"/>
            <a:ext cx="2240280" cy="41148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Mois 4-5</a:t>
            </a:r>
            <a:endParaRPr lang="en-US" sz="1800" dirty="0"/>
          </a:p>
        </p:txBody>
      </p:sp>
      <p:sp>
        <p:nvSpPr>
          <p:cNvPr id="16" name="Shape 14"/>
          <p:cNvSpPr/>
          <p:nvPr/>
        </p:nvSpPr>
        <p:spPr>
          <a:xfrm>
            <a:off x="548640" y="2377440"/>
            <a:ext cx="2606040" cy="1005840"/>
          </a:xfrm>
          <a:prstGeom prst="rect">
            <a:avLst/>
          </a:prstGeom>
          <a:solidFill>
            <a:srgbClr val="243352"/>
          </a:solidFill>
          <a:ln/>
        </p:spPr>
      </p:sp>
      <p:sp>
        <p:nvSpPr>
          <p:cNvPr id="17" name="Shape 15"/>
          <p:cNvSpPr/>
          <p:nvPr/>
        </p:nvSpPr>
        <p:spPr>
          <a:xfrm>
            <a:off x="548640" y="2377440"/>
            <a:ext cx="2606040" cy="36576"/>
          </a:xfrm>
          <a:prstGeom prst="rect">
            <a:avLst/>
          </a:prstGeom>
          <a:solidFill>
            <a:srgbClr val="D4A017"/>
          </a:solidFill>
          <a:ln/>
        </p:spPr>
      </p:sp>
      <p:sp>
        <p:nvSpPr>
          <p:cNvPr id="18" name="Text 16"/>
          <p:cNvSpPr/>
          <p:nvPr/>
        </p:nvSpPr>
        <p:spPr>
          <a:xfrm>
            <a:off x="731520" y="2468880"/>
            <a:ext cx="2240280" cy="3200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CA vise a 5 ans</a:t>
            </a:r>
            <a:endParaRPr lang="en-US" sz="1000" dirty="0"/>
          </a:p>
        </p:txBody>
      </p:sp>
      <p:sp>
        <p:nvSpPr>
          <p:cNvPr id="19" name="Text 17"/>
          <p:cNvSpPr/>
          <p:nvPr/>
        </p:nvSpPr>
        <p:spPr>
          <a:xfrm>
            <a:off x="731520" y="2834640"/>
            <a:ext cx="2240280" cy="41148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~300 000 EUR/an</a:t>
            </a:r>
            <a:endParaRPr lang="en-US" sz="1800" dirty="0"/>
          </a:p>
        </p:txBody>
      </p:sp>
      <p:sp>
        <p:nvSpPr>
          <p:cNvPr id="20" name="Shape 18"/>
          <p:cNvSpPr/>
          <p:nvPr/>
        </p:nvSpPr>
        <p:spPr>
          <a:xfrm>
            <a:off x="3383280" y="2377440"/>
            <a:ext cx="2606040" cy="1005840"/>
          </a:xfrm>
          <a:prstGeom prst="rect">
            <a:avLst/>
          </a:prstGeom>
          <a:solidFill>
            <a:srgbClr val="243352"/>
          </a:solidFill>
          <a:ln/>
        </p:spPr>
      </p:sp>
      <p:sp>
        <p:nvSpPr>
          <p:cNvPr id="21" name="Shape 19"/>
          <p:cNvSpPr/>
          <p:nvPr/>
        </p:nvSpPr>
        <p:spPr>
          <a:xfrm>
            <a:off x="3383280" y="2377440"/>
            <a:ext cx="2606040" cy="36576"/>
          </a:xfrm>
          <a:prstGeom prst="rect">
            <a:avLst/>
          </a:prstGeom>
          <a:solidFill>
            <a:srgbClr val="2563EB"/>
          </a:solidFill>
          <a:ln/>
        </p:spPr>
      </p:sp>
      <p:sp>
        <p:nvSpPr>
          <p:cNvPr id="22" name="Text 20"/>
          <p:cNvSpPr/>
          <p:nvPr/>
        </p:nvSpPr>
        <p:spPr>
          <a:xfrm>
            <a:off x="3566160" y="2468880"/>
            <a:ext cx="2240280" cy="3200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Emplois crees</a:t>
            </a:r>
            <a:endParaRPr lang="en-US" sz="1000" dirty="0"/>
          </a:p>
        </p:txBody>
      </p:sp>
      <p:sp>
        <p:nvSpPr>
          <p:cNvPr id="23" name="Text 21"/>
          <p:cNvSpPr/>
          <p:nvPr/>
        </p:nvSpPr>
        <p:spPr>
          <a:xfrm>
            <a:off x="3566160" y="2834640"/>
            <a:ext cx="2240280" cy="41148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3-4 a 5 ans</a:t>
            </a:r>
            <a:endParaRPr lang="en-US" sz="1800" dirty="0"/>
          </a:p>
        </p:txBody>
      </p:sp>
      <p:sp>
        <p:nvSpPr>
          <p:cNvPr id="24" name="Shape 22"/>
          <p:cNvSpPr/>
          <p:nvPr/>
        </p:nvSpPr>
        <p:spPr>
          <a:xfrm>
            <a:off x="6217920" y="2377440"/>
            <a:ext cx="2606040" cy="1005840"/>
          </a:xfrm>
          <a:prstGeom prst="rect">
            <a:avLst/>
          </a:prstGeom>
          <a:solidFill>
            <a:srgbClr val="243352"/>
          </a:solidFill>
          <a:ln/>
        </p:spPr>
      </p:sp>
      <p:sp>
        <p:nvSpPr>
          <p:cNvPr id="25" name="Shape 23"/>
          <p:cNvSpPr/>
          <p:nvPr/>
        </p:nvSpPr>
        <p:spPr>
          <a:xfrm>
            <a:off x="6217920" y="2377440"/>
            <a:ext cx="2606040" cy="36576"/>
          </a:xfrm>
          <a:prstGeom prst="rect">
            <a:avLst/>
          </a:prstGeom>
          <a:solidFill>
            <a:srgbClr val="F97316"/>
          </a:solidFill>
          <a:ln/>
        </p:spPr>
      </p:sp>
      <p:sp>
        <p:nvSpPr>
          <p:cNvPr id="26" name="Text 24"/>
          <p:cNvSpPr/>
          <p:nvPr/>
        </p:nvSpPr>
        <p:spPr>
          <a:xfrm>
            <a:off x="6400800" y="2468880"/>
            <a:ext cx="2240280" cy="3200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Avantage fiscal</a:t>
            </a:r>
            <a:endParaRPr lang="en-US" sz="1000" dirty="0"/>
          </a:p>
        </p:txBody>
      </p:sp>
      <p:sp>
        <p:nvSpPr>
          <p:cNvPr id="27" name="Text 25"/>
          <p:cNvSpPr/>
          <p:nvPr/>
        </p:nvSpPr>
        <p:spPr>
          <a:xfrm>
            <a:off x="6400800" y="2834640"/>
            <a:ext cx="2240280" cy="41148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50-80% abattement</a:t>
            </a:r>
            <a:endParaRPr lang="en-US" sz="1800" dirty="0"/>
          </a:p>
        </p:txBody>
      </p:sp>
      <p:sp>
        <p:nvSpPr>
          <p:cNvPr id="28" name="Text 26"/>
          <p:cNvSpPr/>
          <p:nvPr/>
        </p:nvSpPr>
        <p:spPr>
          <a:xfrm>
            <a:off x="548640" y="3657600"/>
            <a:ext cx="8046720" cy="731520"/>
          </a:xfrm>
          <a:prstGeom prst="rect">
            <a:avLst/>
          </a:prstGeom>
          <a:noFill/>
          <a:ln/>
        </p:spPr>
        <p:txBody>
          <a:bodyPr wrap="square" lIns="0" tIns="0" rIns="0" bIns="0" rtlCol="0" anchor="ctr"/>
          <a:lstStyle/>
          <a:p>
            <a:pPr algn="ctr" indent="0" marL="0">
              <a:buNone/>
            </a:pPr>
            <a:r>
              <a:rPr lang="en-US" sz="1200" i="1" dirty="0">
                <a:solidFill>
                  <a:srgbClr val="94A3B8"/>
                </a:solidFill>
                <a:latin typeface="Calibri" pitchFamily="34" charset="0"/>
                <a:ea typeface="Calibri" pitchFamily="34" charset="-122"/>
                <a:cs typeface="Calibri" pitchFamily="34" charset="-120"/>
              </a:rPr>
              <a:t>Ce projet, c'est l'aboutissement de mes etudes d'architecture et de mon attachement</a:t>
            </a:r>
            <a:endParaRPr lang="en-US" sz="1200" dirty="0"/>
          </a:p>
          <a:p>
            <a:pPr algn="ctr" indent="0" marL="0">
              <a:buNone/>
            </a:pPr>
            <a:r>
              <a:rPr lang="en-US" sz="1200" i="1" dirty="0">
                <a:solidFill>
                  <a:srgbClr val="94A3B8"/>
                </a:solidFill>
                <a:latin typeface="Calibri" pitchFamily="34" charset="0"/>
                <a:ea typeface="Calibri" pitchFamily="34" charset="-122"/>
                <a:cs typeface="Calibri" pitchFamily="34" charset="-120"/>
              </a:rPr>
              <a:t>a la Guadeloupe. Je ne demande pas d'argent : j'ai les competences, les outils, et le marche est la.</a:t>
            </a:r>
            <a:endParaRPr lang="en-US" sz="1200" dirty="0"/>
          </a:p>
        </p:txBody>
      </p:sp>
      <p:sp>
        <p:nvSpPr>
          <p:cNvPr id="29" name="Text 27"/>
          <p:cNvSpPr/>
          <p:nvPr/>
        </p:nvSpPr>
        <p:spPr>
          <a:xfrm>
            <a:off x="548640" y="4480560"/>
            <a:ext cx="8046720" cy="274320"/>
          </a:xfrm>
          <a:prstGeom prst="rect">
            <a:avLst/>
          </a:prstGeom>
          <a:noFill/>
          <a:ln/>
        </p:spPr>
        <p:txBody>
          <a:bodyPr wrap="square" lIns="0" tIns="0" rIns="0" bIns="0" rtlCol="0" anchor="ctr"/>
          <a:lstStyle/>
          <a:p>
            <a:pPr algn="ctr" indent="0" marL="0">
              <a:buNone/>
            </a:pPr>
            <a:r>
              <a:rPr lang="en-US" sz="1300" dirty="0">
                <a:solidFill>
                  <a:srgbClr val="D4A017"/>
                </a:solidFill>
                <a:latin typeface="Georgia" pitchFamily="34" charset="0"/>
                <a:ea typeface="Georgia" pitchFamily="34" charset="-122"/>
                <a:cs typeface="Georgia" pitchFamily="34" charset="-120"/>
              </a:rPr>
              <a:t>Dereck Rauzduel — Architecte EPFL</a:t>
            </a:r>
            <a:endParaRPr lang="en-US" sz="1300" dirty="0"/>
          </a:p>
        </p:txBody>
      </p:sp>
      <p:sp>
        <p:nvSpPr>
          <p:cNvPr id="30" name="Shape 28"/>
          <p:cNvSpPr/>
          <p:nvPr/>
        </p:nvSpPr>
        <p:spPr>
          <a:xfrm>
            <a:off x="0" y="5088636"/>
            <a:ext cx="9144000" cy="54864"/>
          </a:xfrm>
          <a:prstGeom prst="rect">
            <a:avLst/>
          </a:prstGeom>
          <a:solidFill>
            <a:srgbClr val="D4A017"/>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Ecosystème Web Guadeloupe — KCI | ImmoServices971 | Topo3DGuadeloupe</dc:title>
  <dc:subject>PptxGenJS Presentation</dc:subject>
  <dc:creator>Dereck Rauzduel</dc:creator>
  <cp:lastModifiedBy>Dereck Rauzduel</cp:lastModifiedBy>
  <cp:revision>1</cp:revision>
  <dcterms:created xsi:type="dcterms:W3CDTF">2026-03-19T01:19:08Z</dcterms:created>
  <dcterms:modified xsi:type="dcterms:W3CDTF">2026-03-19T01:19:08Z</dcterms:modified>
</cp:coreProperties>
</file>